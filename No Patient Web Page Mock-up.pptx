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sldIdLst>
    <p:sldId id="264" r:id="rId2"/>
    <p:sldId id="265" r:id="rId3"/>
    <p:sldId id="266" r:id="rId4"/>
    <p:sldId id="257" r:id="rId5"/>
    <p:sldId id="260" r:id="rId6"/>
    <p:sldId id="258" r:id="rId7"/>
    <p:sldId id="259" r:id="rId8"/>
    <p:sldId id="261" r:id="rId9"/>
    <p:sldId id="262"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80" autoAdjust="0"/>
    <p:restoredTop sz="94660"/>
  </p:normalViewPr>
  <p:slideViewPr>
    <p:cSldViewPr snapToGrid="0">
      <p:cViewPr varScale="1">
        <p:scale>
          <a:sx n="88" d="100"/>
          <a:sy n="88" d="100"/>
        </p:scale>
        <p:origin x="36" y="5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B1206A-AE50-464B-A01F-64F496B57B95}" type="datetimeFigureOut">
              <a:rPr lang="en-CA" smtClean="0"/>
              <a:t>2026-07-19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230353-04A8-42DD-BAF6-12306B9A43B8}" type="slidenum">
              <a:rPr lang="en-CA" smtClean="0"/>
              <a:t>‹#›</a:t>
            </a:fld>
            <a:endParaRPr lang="en-CA"/>
          </a:p>
        </p:txBody>
      </p:sp>
    </p:spTree>
    <p:extLst>
      <p:ext uri="{BB962C8B-B14F-4D97-AF65-F5344CB8AC3E}">
        <p14:creationId xmlns:p14="http://schemas.microsoft.com/office/powerpoint/2010/main" val="3084527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4200" b="1" i="0" u="none" strike="noStrike" kern="1200" cap="none" spc="0" normalizeH="0" baseline="0" noProof="0" dirty="0">
                <a:ln>
                  <a:noFill/>
                </a:ln>
                <a:solidFill>
                  <a:srgbClr val="EBEBEB"/>
                </a:solidFill>
                <a:effectLst/>
                <a:uLnTx/>
                <a:uFillTx/>
                <a:latin typeface="Century Gothic" panose="020B0502020202020204"/>
                <a:ea typeface="+mj-ea"/>
                <a:cs typeface="+mj-cs"/>
              </a:rPr>
              <a:t>Second level links</a:t>
            </a:r>
            <a:endParaRPr lang="en-CA" b="1" dirty="0"/>
          </a:p>
        </p:txBody>
      </p:sp>
      <p:sp>
        <p:nvSpPr>
          <p:cNvPr id="4" name="Slide Number Placeholder 3"/>
          <p:cNvSpPr>
            <a:spLocks noGrp="1"/>
          </p:cNvSpPr>
          <p:nvPr>
            <p:ph type="sldNum" sz="quarter" idx="5"/>
          </p:nvPr>
        </p:nvSpPr>
        <p:spPr/>
        <p:txBody>
          <a:bodyPr/>
          <a:lstStyle/>
          <a:p>
            <a:fld id="{30230353-04A8-42DD-BAF6-12306B9A43B8}" type="slidenum">
              <a:rPr lang="en-CA" smtClean="0"/>
              <a:t>5</a:t>
            </a:fld>
            <a:endParaRPr lang="en-CA"/>
          </a:p>
        </p:txBody>
      </p:sp>
    </p:spTree>
    <p:extLst>
      <p:ext uri="{BB962C8B-B14F-4D97-AF65-F5344CB8AC3E}">
        <p14:creationId xmlns:p14="http://schemas.microsoft.com/office/powerpoint/2010/main" val="2758836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4185840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472021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2769058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2CF632-5942-4864-8F5A-C8F7AFB42B01}" type="datetimeFigureOut">
              <a:rPr lang="en-CA" smtClean="0"/>
              <a:t>2026-07-19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1637876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2CF632-5942-4864-8F5A-C8F7AFB42B01}" type="datetimeFigureOut">
              <a:rPr lang="en-CA" smtClean="0"/>
              <a:t>2026-07-19</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2528845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3"/>
          <p:cNvSpPr>
            <a:spLocks noGrp="1"/>
          </p:cNvSpPr>
          <p:nvPr>
            <p:ph type="ftr" sz="quarter" idx="11"/>
          </p:nvPr>
        </p:nvSpPr>
        <p:spPr/>
        <p:txBody>
          <a:bodyPr/>
          <a:lstStyle/>
          <a:p>
            <a:endParaRPr lang="en-CA"/>
          </a:p>
        </p:txBody>
      </p:sp>
      <p:sp>
        <p:nvSpPr>
          <p:cNvPr id="6" name="Slide Number Placeholder 4"/>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1206093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2"/>
          <p:cNvSpPr>
            <a:spLocks noGrp="1"/>
          </p:cNvSpPr>
          <p:nvPr>
            <p:ph type="ftr" sz="quarter" idx="11"/>
          </p:nvPr>
        </p:nvSpPr>
        <p:spPr/>
        <p:txBody>
          <a:bodyPr/>
          <a:lstStyle/>
          <a:p>
            <a:endParaRPr lang="en-CA"/>
          </a:p>
        </p:txBody>
      </p:sp>
      <p:sp>
        <p:nvSpPr>
          <p:cNvPr id="6" name="Slide Number Placeholder 3"/>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899707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5"/>
          <p:cNvSpPr>
            <a:spLocks noGrp="1"/>
          </p:cNvSpPr>
          <p:nvPr>
            <p:ph type="ftr" sz="quarter" idx="11"/>
          </p:nvPr>
        </p:nvSpPr>
        <p:spPr/>
        <p:txBody>
          <a:bodyPr/>
          <a:lstStyle/>
          <a:p>
            <a:endParaRPr lang="en-CA"/>
          </a:p>
        </p:txBody>
      </p:sp>
      <p:sp>
        <p:nvSpPr>
          <p:cNvPr id="6" name="Slide Number Placeholder 6"/>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3137584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2CF632-5942-4864-8F5A-C8F7AFB42B01}" type="datetimeFigureOut">
              <a:rPr lang="en-CA" smtClean="0"/>
              <a:t>2026-07-19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4052490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2CF632-5942-4864-8F5A-C8F7AFB42B01}" type="datetimeFigureOut">
              <a:rPr lang="en-CA" smtClean="0"/>
              <a:t>2026-07-19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915461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3519724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4FD24FE-99BC-4BE5-8E71-5771BB76F9CF}" type="slidenum">
              <a:rPr lang="en-CA" smtClean="0"/>
              <a:t>‹#›</a:t>
            </a:fld>
            <a:endParaRPr lang="en-CA"/>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64784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1636574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D2CF632-5942-4864-8F5A-C8F7AFB42B01}" type="datetimeFigureOut">
              <a:rPr lang="en-CA" smtClean="0"/>
              <a:t>2026-07-19</a:t>
            </a:fld>
            <a:endParaRPr lang="en-CA"/>
          </a:p>
        </p:txBody>
      </p:sp>
      <p:sp>
        <p:nvSpPr>
          <p:cNvPr id="4"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2187853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D2CF632-5942-4864-8F5A-C8F7AFB42B01}" type="datetimeFigureOut">
              <a:rPr lang="en-CA" smtClean="0"/>
              <a:t>2026-07-19</a:t>
            </a:fld>
            <a:endParaRPr lang="en-CA"/>
          </a:p>
        </p:txBody>
      </p:sp>
      <p:sp>
        <p:nvSpPr>
          <p:cNvPr id="4"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7008653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7565107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2CF632-5942-4864-8F5A-C8F7AFB42B01}" type="datetimeFigureOut">
              <a:rPr lang="en-CA" smtClean="0"/>
              <a:t>2026-07-19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4FD24FE-99BC-4BE5-8E71-5771BB76F9CF}" type="slidenum">
              <a:rPr lang="en-CA" smtClean="0"/>
              <a:t>‹#›</a:t>
            </a:fld>
            <a:endParaRPr lang="en-CA"/>
          </a:p>
        </p:txBody>
      </p:sp>
    </p:spTree>
    <p:extLst>
      <p:ext uri="{BB962C8B-B14F-4D97-AF65-F5344CB8AC3E}">
        <p14:creationId xmlns:p14="http://schemas.microsoft.com/office/powerpoint/2010/main" val="316905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D2CF632-5942-4864-8F5A-C8F7AFB42B01}" type="datetimeFigureOut">
              <a:rPr lang="en-CA" smtClean="0"/>
              <a:t>2026-07-19</a:t>
            </a:fld>
            <a:endParaRPr lang="en-C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CA"/>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4FD24FE-99BC-4BE5-8E71-5771BB76F9CF}" type="slidenum">
              <a:rPr lang="en-CA" smtClean="0"/>
              <a:t>‹#›</a:t>
            </a:fld>
            <a:endParaRPr lang="en-CA"/>
          </a:p>
        </p:txBody>
      </p:sp>
    </p:spTree>
    <p:extLst>
      <p:ext uri="{BB962C8B-B14F-4D97-AF65-F5344CB8AC3E}">
        <p14:creationId xmlns:p14="http://schemas.microsoft.com/office/powerpoint/2010/main" val="53108370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7000"/>
            <a:duotone>
              <a:schemeClr val="bg2">
                <a:shade val="69000"/>
                <a:hueMod val="108000"/>
                <a:satMod val="164000"/>
                <a:lumMod val="74000"/>
              </a:schemeClr>
              <a:schemeClr val="bg2">
                <a:tint val="96000"/>
                <a:hueMod val="88000"/>
                <a:satMod val="140000"/>
                <a:lumMod val="132000"/>
              </a:schemeClr>
            </a:duotone>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5F64A5-5EA8-325A-7E1B-6E269E5721FA}"/>
              </a:ext>
            </a:extLst>
          </p:cNvPr>
          <p:cNvSpPr txBox="1"/>
          <p:nvPr/>
        </p:nvSpPr>
        <p:spPr>
          <a:xfrm>
            <a:off x="485530" y="3066310"/>
            <a:ext cx="906305" cy="830997"/>
          </a:xfrm>
          <a:prstGeom prst="rect">
            <a:avLst/>
          </a:prstGeom>
          <a:noFill/>
          <a:ln>
            <a:solidFill>
              <a:schemeClr val="tx1"/>
            </a:solidFill>
          </a:ln>
        </p:spPr>
        <p:txBody>
          <a:bodyPr wrap="square" rtlCol="0">
            <a:spAutoFit/>
          </a:bodyPr>
          <a:lstStyle/>
          <a:p>
            <a:pPr algn="ctr"/>
            <a:r>
              <a:rPr lang="en-US" sz="1600" dirty="0"/>
              <a:t>Home Page </a:t>
            </a:r>
          </a:p>
          <a:p>
            <a:pPr algn="ctr"/>
            <a:r>
              <a:rPr lang="en-US" sz="1600" dirty="0"/>
              <a:t>(NPLB)</a:t>
            </a:r>
            <a:endParaRPr lang="en-CA" sz="1600" dirty="0"/>
          </a:p>
        </p:txBody>
      </p:sp>
      <p:cxnSp>
        <p:nvCxnSpPr>
          <p:cNvPr id="6" name="Straight Connector 5">
            <a:extLst>
              <a:ext uri="{FF2B5EF4-FFF2-40B4-BE49-F238E27FC236}">
                <a16:creationId xmlns:a16="http://schemas.microsoft.com/office/drawing/2014/main" id="{06671C2E-5BCB-FBFF-FA12-F226205907D4}"/>
              </a:ext>
            </a:extLst>
          </p:cNvPr>
          <p:cNvCxnSpPr>
            <a:cxnSpLocks/>
          </p:cNvCxnSpPr>
          <p:nvPr/>
        </p:nvCxnSpPr>
        <p:spPr>
          <a:xfrm>
            <a:off x="1950185" y="864759"/>
            <a:ext cx="0" cy="50089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5C8CA59-3F5B-81E4-38BF-BC4180A61F58}"/>
              </a:ext>
            </a:extLst>
          </p:cNvPr>
          <p:cNvCxnSpPr>
            <a:cxnSpLocks/>
            <a:stCxn id="4" idx="3"/>
          </p:cNvCxnSpPr>
          <p:nvPr/>
        </p:nvCxnSpPr>
        <p:spPr>
          <a:xfrm flipV="1">
            <a:off x="1391835" y="3481808"/>
            <a:ext cx="56644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0815AF7-974F-A03C-CB23-6C970DC8DC17}"/>
              </a:ext>
            </a:extLst>
          </p:cNvPr>
          <p:cNvCxnSpPr/>
          <p:nvPr/>
        </p:nvCxnSpPr>
        <p:spPr>
          <a:xfrm flipV="1">
            <a:off x="1964347" y="3755792"/>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08B2762-899E-1E8A-ED5D-74235816C5F0}"/>
              </a:ext>
            </a:extLst>
          </p:cNvPr>
          <p:cNvCxnSpPr/>
          <p:nvPr/>
        </p:nvCxnSpPr>
        <p:spPr>
          <a:xfrm flipV="1">
            <a:off x="1950185" y="5048760"/>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B2F3101-A52F-7591-1BE7-B5700EB67254}"/>
              </a:ext>
            </a:extLst>
          </p:cNvPr>
          <p:cNvCxnSpPr/>
          <p:nvPr/>
        </p:nvCxnSpPr>
        <p:spPr>
          <a:xfrm flipV="1">
            <a:off x="1943447" y="5873729"/>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A591D6F-3B0B-1F38-5A7D-276EF62F1E0A}"/>
              </a:ext>
            </a:extLst>
          </p:cNvPr>
          <p:cNvCxnSpPr/>
          <p:nvPr/>
        </p:nvCxnSpPr>
        <p:spPr>
          <a:xfrm flipV="1">
            <a:off x="1958278" y="872279"/>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09BD99B-45F1-6B61-22CC-4114A7715399}"/>
              </a:ext>
            </a:extLst>
          </p:cNvPr>
          <p:cNvSpPr txBox="1"/>
          <p:nvPr/>
        </p:nvSpPr>
        <p:spPr>
          <a:xfrm>
            <a:off x="2508535" y="587983"/>
            <a:ext cx="1618408" cy="523220"/>
          </a:xfrm>
          <a:prstGeom prst="rect">
            <a:avLst/>
          </a:prstGeom>
          <a:noFill/>
          <a:ln>
            <a:noFill/>
          </a:ln>
        </p:spPr>
        <p:txBody>
          <a:bodyPr wrap="square" rtlCol="0">
            <a:spAutoFit/>
          </a:bodyPr>
          <a:lstStyle/>
          <a:p>
            <a:pPr algn="ctr"/>
            <a:r>
              <a:rPr lang="en-US" sz="1400" dirty="0"/>
              <a:t>Accountability Frameworks</a:t>
            </a:r>
            <a:endParaRPr lang="en-CA" sz="1400" dirty="0"/>
          </a:p>
        </p:txBody>
      </p:sp>
      <p:sp>
        <p:nvSpPr>
          <p:cNvPr id="23" name="TextBox 22">
            <a:extLst>
              <a:ext uri="{FF2B5EF4-FFF2-40B4-BE49-F238E27FC236}">
                <a16:creationId xmlns:a16="http://schemas.microsoft.com/office/drawing/2014/main" id="{3FB766D9-4C92-388D-5F60-CED944506582}"/>
              </a:ext>
            </a:extLst>
          </p:cNvPr>
          <p:cNvSpPr txBox="1"/>
          <p:nvPr/>
        </p:nvSpPr>
        <p:spPr>
          <a:xfrm>
            <a:off x="2585411" y="1838184"/>
            <a:ext cx="1466008" cy="738664"/>
          </a:xfrm>
          <a:prstGeom prst="rect">
            <a:avLst/>
          </a:prstGeom>
          <a:noFill/>
          <a:ln>
            <a:noFill/>
          </a:ln>
        </p:spPr>
        <p:txBody>
          <a:bodyPr wrap="square" rtlCol="0">
            <a:spAutoFit/>
          </a:bodyPr>
          <a:lstStyle/>
          <a:p>
            <a:pPr algn="ctr"/>
            <a:r>
              <a:rPr lang="en-US" sz="1400" dirty="0"/>
              <a:t>Operational Improvement Resources</a:t>
            </a:r>
            <a:endParaRPr lang="en-CA" sz="1400" dirty="0"/>
          </a:p>
        </p:txBody>
      </p:sp>
      <p:sp>
        <p:nvSpPr>
          <p:cNvPr id="25" name="TextBox 24">
            <a:extLst>
              <a:ext uri="{FF2B5EF4-FFF2-40B4-BE49-F238E27FC236}">
                <a16:creationId xmlns:a16="http://schemas.microsoft.com/office/drawing/2014/main" id="{DD603CC9-7630-7931-FC51-4BDF13F0C23B}"/>
              </a:ext>
            </a:extLst>
          </p:cNvPr>
          <p:cNvSpPr txBox="1"/>
          <p:nvPr/>
        </p:nvSpPr>
        <p:spPr>
          <a:xfrm>
            <a:off x="2516629" y="5719841"/>
            <a:ext cx="1478145" cy="307777"/>
          </a:xfrm>
          <a:prstGeom prst="rect">
            <a:avLst/>
          </a:prstGeom>
          <a:noFill/>
          <a:ln>
            <a:noFill/>
          </a:ln>
        </p:spPr>
        <p:txBody>
          <a:bodyPr wrap="square" rtlCol="0">
            <a:spAutoFit/>
          </a:bodyPr>
          <a:lstStyle/>
          <a:p>
            <a:pPr algn="ctr"/>
            <a:r>
              <a:rPr lang="en-US" sz="1400" dirty="0"/>
              <a:t>Donate Link</a:t>
            </a:r>
            <a:endParaRPr lang="en-CA" sz="1400" dirty="0"/>
          </a:p>
        </p:txBody>
      </p:sp>
      <p:sp>
        <p:nvSpPr>
          <p:cNvPr id="27" name="TextBox 26">
            <a:extLst>
              <a:ext uri="{FF2B5EF4-FFF2-40B4-BE49-F238E27FC236}">
                <a16:creationId xmlns:a16="http://schemas.microsoft.com/office/drawing/2014/main" id="{83F9F89C-D55C-6054-BA38-029C7C9BFDD1}"/>
              </a:ext>
            </a:extLst>
          </p:cNvPr>
          <p:cNvSpPr txBox="1"/>
          <p:nvPr/>
        </p:nvSpPr>
        <p:spPr>
          <a:xfrm>
            <a:off x="2516627" y="3351355"/>
            <a:ext cx="1618408" cy="738664"/>
          </a:xfrm>
          <a:prstGeom prst="rect">
            <a:avLst/>
          </a:prstGeom>
          <a:noFill/>
          <a:ln>
            <a:noFill/>
          </a:ln>
        </p:spPr>
        <p:txBody>
          <a:bodyPr wrap="square" rtlCol="0">
            <a:spAutoFit/>
          </a:bodyPr>
          <a:lstStyle/>
          <a:p>
            <a:pPr algn="ctr"/>
            <a:r>
              <a:rPr lang="en-US" sz="1400" dirty="0"/>
              <a:t>Operational Improvement Strategies</a:t>
            </a:r>
            <a:endParaRPr lang="en-CA" sz="1400" dirty="0"/>
          </a:p>
        </p:txBody>
      </p:sp>
      <p:sp>
        <p:nvSpPr>
          <p:cNvPr id="29" name="TextBox 28">
            <a:extLst>
              <a:ext uri="{FF2B5EF4-FFF2-40B4-BE49-F238E27FC236}">
                <a16:creationId xmlns:a16="http://schemas.microsoft.com/office/drawing/2014/main" id="{46A87C47-9B04-243A-3D9B-519BA5CE4693}"/>
              </a:ext>
            </a:extLst>
          </p:cNvPr>
          <p:cNvSpPr txBox="1"/>
          <p:nvPr/>
        </p:nvSpPr>
        <p:spPr>
          <a:xfrm>
            <a:off x="2516627" y="4815213"/>
            <a:ext cx="1478147" cy="523220"/>
          </a:xfrm>
          <a:prstGeom prst="rect">
            <a:avLst/>
          </a:prstGeom>
          <a:noFill/>
          <a:ln>
            <a:noFill/>
          </a:ln>
        </p:spPr>
        <p:txBody>
          <a:bodyPr wrap="square" rtlCol="0">
            <a:spAutoFit/>
          </a:bodyPr>
          <a:lstStyle/>
          <a:p>
            <a:pPr algn="ctr"/>
            <a:r>
              <a:rPr lang="en-US" sz="1400" dirty="0"/>
              <a:t>Applications </a:t>
            </a:r>
          </a:p>
          <a:p>
            <a:pPr algn="ctr"/>
            <a:r>
              <a:rPr lang="en-US" sz="1400" dirty="0"/>
              <a:t>&amp; Awards</a:t>
            </a:r>
            <a:endParaRPr lang="en-CA" sz="1400" dirty="0"/>
          </a:p>
        </p:txBody>
      </p:sp>
      <p:cxnSp>
        <p:nvCxnSpPr>
          <p:cNvPr id="30" name="Straight Connector 29">
            <a:extLst>
              <a:ext uri="{FF2B5EF4-FFF2-40B4-BE49-F238E27FC236}">
                <a16:creationId xmlns:a16="http://schemas.microsoft.com/office/drawing/2014/main" id="{773D5A90-06AE-14A0-2245-6973DC60AC04}"/>
              </a:ext>
            </a:extLst>
          </p:cNvPr>
          <p:cNvCxnSpPr/>
          <p:nvPr/>
        </p:nvCxnSpPr>
        <p:spPr>
          <a:xfrm flipV="1">
            <a:off x="1962330" y="2228978"/>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6DD5D88-62F1-5532-3AA0-C2F0349711A1}"/>
              </a:ext>
            </a:extLst>
          </p:cNvPr>
          <p:cNvCxnSpPr>
            <a:cxnSpLocks/>
          </p:cNvCxnSpPr>
          <p:nvPr/>
        </p:nvCxnSpPr>
        <p:spPr>
          <a:xfrm>
            <a:off x="4719684" y="393263"/>
            <a:ext cx="6066" cy="8480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9EB3965-FB2D-CB6C-D8E8-E63901CA5A28}"/>
              </a:ext>
            </a:extLst>
          </p:cNvPr>
          <p:cNvCxnSpPr/>
          <p:nvPr/>
        </p:nvCxnSpPr>
        <p:spPr>
          <a:xfrm flipV="1">
            <a:off x="4151779" y="3772282"/>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58A6A0A-98D0-AA07-FC3C-D4A713D118F4}"/>
              </a:ext>
            </a:extLst>
          </p:cNvPr>
          <p:cNvCxnSpPr/>
          <p:nvPr/>
        </p:nvCxnSpPr>
        <p:spPr>
          <a:xfrm flipV="1">
            <a:off x="4165621" y="5169803"/>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1601D47-19DC-90A8-D203-ED6A857273D7}"/>
              </a:ext>
            </a:extLst>
          </p:cNvPr>
          <p:cNvCxnSpPr/>
          <p:nvPr/>
        </p:nvCxnSpPr>
        <p:spPr>
          <a:xfrm flipV="1">
            <a:off x="4149650" y="879023"/>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AA08EFE-3F56-A3BA-4466-2E600EFF0D83}"/>
              </a:ext>
            </a:extLst>
          </p:cNvPr>
          <p:cNvCxnSpPr/>
          <p:nvPr/>
        </p:nvCxnSpPr>
        <p:spPr>
          <a:xfrm flipV="1">
            <a:off x="4147686" y="2235722"/>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1A7281F-1484-1B4A-24B6-3E9A59CA3223}"/>
              </a:ext>
            </a:extLst>
          </p:cNvPr>
          <p:cNvSpPr txBox="1"/>
          <p:nvPr/>
        </p:nvSpPr>
        <p:spPr>
          <a:xfrm>
            <a:off x="5278705" y="231654"/>
            <a:ext cx="3331220" cy="1384995"/>
          </a:xfrm>
          <a:prstGeom prst="rect">
            <a:avLst/>
          </a:prstGeom>
          <a:noFill/>
        </p:spPr>
        <p:txBody>
          <a:bodyPr wrap="square" rtlCol="0">
            <a:spAutoFit/>
          </a:bodyPr>
          <a:lstStyle/>
          <a:p>
            <a:r>
              <a:rPr lang="en-US" sz="1400" dirty="0"/>
              <a:t>Executive Summary</a:t>
            </a:r>
          </a:p>
          <a:p>
            <a:r>
              <a:rPr lang="en-US" sz="1400" dirty="0"/>
              <a:t>Accountability Framework Overview</a:t>
            </a:r>
          </a:p>
          <a:p>
            <a:r>
              <a:rPr lang="en-US" sz="1400" dirty="0"/>
              <a:t>Facility Accountability Frameworks</a:t>
            </a:r>
          </a:p>
          <a:p>
            <a:r>
              <a:rPr lang="en-US" sz="1400" dirty="0"/>
              <a:t>System Accountability Frameworks</a:t>
            </a:r>
          </a:p>
          <a:p>
            <a:r>
              <a:rPr lang="en-US" sz="1400" dirty="0"/>
              <a:t>How to Implement an Accountability Framework</a:t>
            </a:r>
            <a:endParaRPr lang="en-CA" sz="1400" dirty="0"/>
          </a:p>
        </p:txBody>
      </p:sp>
      <p:cxnSp>
        <p:nvCxnSpPr>
          <p:cNvPr id="41" name="Straight Connector 40">
            <a:extLst>
              <a:ext uri="{FF2B5EF4-FFF2-40B4-BE49-F238E27FC236}">
                <a16:creationId xmlns:a16="http://schemas.microsoft.com/office/drawing/2014/main" id="{DD18730C-0EF1-6BE8-21AA-86DC1734D5BB}"/>
              </a:ext>
            </a:extLst>
          </p:cNvPr>
          <p:cNvCxnSpPr/>
          <p:nvPr/>
        </p:nvCxnSpPr>
        <p:spPr>
          <a:xfrm flipV="1">
            <a:off x="4708209" y="4428741"/>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141BA65-43D9-C927-0ED2-4C9A4725F538}"/>
              </a:ext>
            </a:extLst>
          </p:cNvPr>
          <p:cNvCxnSpPr/>
          <p:nvPr/>
        </p:nvCxnSpPr>
        <p:spPr>
          <a:xfrm flipV="1">
            <a:off x="4737567" y="5682915"/>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76FCF56-2078-4B6E-9F5D-8B403DA316C1}"/>
              </a:ext>
            </a:extLst>
          </p:cNvPr>
          <p:cNvCxnSpPr/>
          <p:nvPr/>
        </p:nvCxnSpPr>
        <p:spPr>
          <a:xfrm flipV="1">
            <a:off x="4716302" y="377319"/>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DCF7EEB-9B0C-1BA4-1818-4E73165EA0FD}"/>
              </a:ext>
            </a:extLst>
          </p:cNvPr>
          <p:cNvCxnSpPr/>
          <p:nvPr/>
        </p:nvCxnSpPr>
        <p:spPr>
          <a:xfrm flipV="1">
            <a:off x="4720354" y="806150"/>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F77DD42-184D-A066-0B19-4A015302E412}"/>
              </a:ext>
            </a:extLst>
          </p:cNvPr>
          <p:cNvCxnSpPr/>
          <p:nvPr/>
        </p:nvCxnSpPr>
        <p:spPr>
          <a:xfrm flipV="1">
            <a:off x="4714954" y="618731"/>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712E244-E146-153E-F168-9B249A71131E}"/>
              </a:ext>
            </a:extLst>
          </p:cNvPr>
          <p:cNvCxnSpPr/>
          <p:nvPr/>
        </p:nvCxnSpPr>
        <p:spPr>
          <a:xfrm flipV="1">
            <a:off x="4723409" y="1237838"/>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14A9F9A-1FC7-8AB9-76D9-02E1E196E8DD}"/>
              </a:ext>
            </a:extLst>
          </p:cNvPr>
          <p:cNvCxnSpPr>
            <a:cxnSpLocks/>
          </p:cNvCxnSpPr>
          <p:nvPr/>
        </p:nvCxnSpPr>
        <p:spPr>
          <a:xfrm>
            <a:off x="4708219" y="1802534"/>
            <a:ext cx="9435" cy="8992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A027968-1D38-1135-6A9E-06C6B75CADA8}"/>
              </a:ext>
            </a:extLst>
          </p:cNvPr>
          <p:cNvCxnSpPr/>
          <p:nvPr/>
        </p:nvCxnSpPr>
        <p:spPr>
          <a:xfrm flipV="1">
            <a:off x="4714954" y="1807619"/>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595BF18-4AC5-5C9D-7AD7-FBC2C1F59468}"/>
              </a:ext>
            </a:extLst>
          </p:cNvPr>
          <p:cNvCxnSpPr/>
          <p:nvPr/>
        </p:nvCxnSpPr>
        <p:spPr>
          <a:xfrm flipV="1">
            <a:off x="4719006" y="2236450"/>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2ABCEA6-73E7-42CF-361F-3D65E1F5871A}"/>
              </a:ext>
            </a:extLst>
          </p:cNvPr>
          <p:cNvCxnSpPr/>
          <p:nvPr/>
        </p:nvCxnSpPr>
        <p:spPr>
          <a:xfrm flipV="1">
            <a:off x="4713606" y="2049031"/>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5C5B620-14CC-F527-18C8-478C618362EB}"/>
              </a:ext>
            </a:extLst>
          </p:cNvPr>
          <p:cNvCxnSpPr/>
          <p:nvPr/>
        </p:nvCxnSpPr>
        <p:spPr>
          <a:xfrm flipV="1">
            <a:off x="4720350" y="2444191"/>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23A0262-C623-23F6-EEA6-A0FBE813F541}"/>
              </a:ext>
            </a:extLst>
          </p:cNvPr>
          <p:cNvCxnSpPr/>
          <p:nvPr/>
        </p:nvCxnSpPr>
        <p:spPr>
          <a:xfrm flipV="1">
            <a:off x="4710910" y="2701787"/>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490DDECA-5B62-A641-AF3D-B311F2196EB1}"/>
              </a:ext>
            </a:extLst>
          </p:cNvPr>
          <p:cNvSpPr txBox="1"/>
          <p:nvPr/>
        </p:nvSpPr>
        <p:spPr>
          <a:xfrm>
            <a:off x="5292193" y="1683560"/>
            <a:ext cx="3083065" cy="1169551"/>
          </a:xfrm>
          <a:prstGeom prst="rect">
            <a:avLst/>
          </a:prstGeom>
          <a:noFill/>
        </p:spPr>
        <p:txBody>
          <a:bodyPr wrap="square" rtlCol="0">
            <a:spAutoFit/>
          </a:bodyPr>
          <a:lstStyle/>
          <a:p>
            <a:r>
              <a:rPr lang="en-US" sz="1400" dirty="0">
                <a:solidFill>
                  <a:srgbClr val="FFFF00"/>
                </a:solidFill>
              </a:rPr>
              <a:t>Leadership: Essential Knowledge</a:t>
            </a:r>
          </a:p>
          <a:p>
            <a:r>
              <a:rPr lang="en-US" sz="1400" dirty="0"/>
              <a:t>Reducing Delays in Your Hospital</a:t>
            </a:r>
          </a:p>
          <a:p>
            <a:r>
              <a:rPr lang="en-US" sz="1400" dirty="0"/>
              <a:t>Teaching Materials</a:t>
            </a:r>
          </a:p>
          <a:p>
            <a:r>
              <a:rPr lang="en-US" sz="1400" dirty="0"/>
              <a:t>Healthcare Stories</a:t>
            </a:r>
          </a:p>
          <a:p>
            <a:r>
              <a:rPr lang="en-US" sz="1400" dirty="0"/>
              <a:t>References</a:t>
            </a:r>
            <a:endParaRPr lang="en-CA" sz="1400" dirty="0"/>
          </a:p>
        </p:txBody>
      </p:sp>
      <p:cxnSp>
        <p:nvCxnSpPr>
          <p:cNvPr id="57" name="Straight Connector 56">
            <a:extLst>
              <a:ext uri="{FF2B5EF4-FFF2-40B4-BE49-F238E27FC236}">
                <a16:creationId xmlns:a16="http://schemas.microsoft.com/office/drawing/2014/main" id="{FE4605A2-636C-062B-5AD0-C3D9C8CF86D3}"/>
              </a:ext>
            </a:extLst>
          </p:cNvPr>
          <p:cNvCxnSpPr/>
          <p:nvPr/>
        </p:nvCxnSpPr>
        <p:spPr>
          <a:xfrm flipV="1">
            <a:off x="4729115" y="4189477"/>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CDB377F-3BAC-222E-8E71-A62025584606}"/>
              </a:ext>
            </a:extLst>
          </p:cNvPr>
          <p:cNvCxnSpPr>
            <a:cxnSpLocks/>
          </p:cNvCxnSpPr>
          <p:nvPr/>
        </p:nvCxnSpPr>
        <p:spPr>
          <a:xfrm>
            <a:off x="4714963" y="3137002"/>
            <a:ext cx="0" cy="12917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FA5F424-C234-ADD4-4959-4C5A040BFD30}"/>
              </a:ext>
            </a:extLst>
          </p:cNvPr>
          <p:cNvCxnSpPr/>
          <p:nvPr/>
        </p:nvCxnSpPr>
        <p:spPr>
          <a:xfrm flipV="1">
            <a:off x="4721698" y="3142087"/>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75B5275-23C1-CF9D-A335-9041B3FBECBD}"/>
              </a:ext>
            </a:extLst>
          </p:cNvPr>
          <p:cNvCxnSpPr/>
          <p:nvPr/>
        </p:nvCxnSpPr>
        <p:spPr>
          <a:xfrm flipV="1">
            <a:off x="4725750" y="3570918"/>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810D9E4-59FC-210D-DD7D-F2CDE20DAC3C}"/>
              </a:ext>
            </a:extLst>
          </p:cNvPr>
          <p:cNvCxnSpPr/>
          <p:nvPr/>
        </p:nvCxnSpPr>
        <p:spPr>
          <a:xfrm flipV="1">
            <a:off x="4720350" y="3383499"/>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2B42E41-CA15-2E1B-D725-211A38638397}"/>
              </a:ext>
            </a:extLst>
          </p:cNvPr>
          <p:cNvCxnSpPr/>
          <p:nvPr/>
        </p:nvCxnSpPr>
        <p:spPr>
          <a:xfrm flipV="1">
            <a:off x="4727094" y="3778659"/>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D7E62B0-576E-42CE-F143-D83FD45E34AD}"/>
              </a:ext>
            </a:extLst>
          </p:cNvPr>
          <p:cNvCxnSpPr/>
          <p:nvPr/>
        </p:nvCxnSpPr>
        <p:spPr>
          <a:xfrm flipV="1">
            <a:off x="4717654" y="3987703"/>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8E8501FB-E947-75E1-87FC-2A90BBBC04AF}"/>
              </a:ext>
            </a:extLst>
          </p:cNvPr>
          <p:cNvSpPr txBox="1"/>
          <p:nvPr/>
        </p:nvSpPr>
        <p:spPr>
          <a:xfrm>
            <a:off x="5284099" y="2978536"/>
            <a:ext cx="3325825" cy="1600438"/>
          </a:xfrm>
          <a:prstGeom prst="rect">
            <a:avLst/>
          </a:prstGeom>
          <a:noFill/>
        </p:spPr>
        <p:txBody>
          <a:bodyPr wrap="square" rtlCol="0">
            <a:spAutoFit/>
          </a:bodyPr>
          <a:lstStyle/>
          <a:p>
            <a:r>
              <a:rPr lang="en-US" sz="1400" dirty="0"/>
              <a:t>Intake Areas &amp; Low-Acuity Diversion</a:t>
            </a:r>
          </a:p>
          <a:p>
            <a:r>
              <a:rPr lang="en-US" sz="1400" dirty="0"/>
              <a:t>Accountability Strategies: Overview</a:t>
            </a:r>
          </a:p>
          <a:p>
            <a:r>
              <a:rPr lang="en-US" sz="1400" dirty="0"/>
              <a:t>Rationing and Ethical Allocation</a:t>
            </a:r>
          </a:p>
          <a:p>
            <a:r>
              <a:rPr lang="en-US" sz="1400" dirty="0"/>
              <a:t>The One vs. the Many</a:t>
            </a:r>
          </a:p>
          <a:p>
            <a:r>
              <a:rPr lang="en-US" sz="1400" dirty="0"/>
              <a:t>Matching Demand &amp; Capacity</a:t>
            </a:r>
          </a:p>
          <a:p>
            <a:r>
              <a:rPr lang="en-US" sz="1400" dirty="0"/>
              <a:t>Reducing Variability</a:t>
            </a:r>
          </a:p>
          <a:p>
            <a:r>
              <a:rPr lang="en-US" sz="1400" dirty="0"/>
              <a:t>Task Shifting</a:t>
            </a:r>
            <a:endParaRPr lang="en-CA" sz="1400" dirty="0"/>
          </a:p>
        </p:txBody>
      </p:sp>
      <p:cxnSp>
        <p:nvCxnSpPr>
          <p:cNvPr id="67" name="Straight Connector 66">
            <a:extLst>
              <a:ext uri="{FF2B5EF4-FFF2-40B4-BE49-F238E27FC236}">
                <a16:creationId xmlns:a16="http://schemas.microsoft.com/office/drawing/2014/main" id="{516B72F6-ED80-3C8E-EF4A-0E5438FF24D5}"/>
              </a:ext>
            </a:extLst>
          </p:cNvPr>
          <p:cNvCxnSpPr/>
          <p:nvPr/>
        </p:nvCxnSpPr>
        <p:spPr>
          <a:xfrm flipV="1">
            <a:off x="4740935" y="5887947"/>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22230EE-BAF2-B751-69BE-F36BE48D00DE}"/>
              </a:ext>
            </a:extLst>
          </p:cNvPr>
          <p:cNvCxnSpPr>
            <a:cxnSpLocks/>
          </p:cNvCxnSpPr>
          <p:nvPr/>
        </p:nvCxnSpPr>
        <p:spPr>
          <a:xfrm>
            <a:off x="4726783" y="4824880"/>
            <a:ext cx="14148" cy="10630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68095F0-E439-FB9B-7AFC-1D51A3999D19}"/>
              </a:ext>
            </a:extLst>
          </p:cNvPr>
          <p:cNvCxnSpPr/>
          <p:nvPr/>
        </p:nvCxnSpPr>
        <p:spPr>
          <a:xfrm flipV="1">
            <a:off x="4733518" y="4829965"/>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1F66FC0-F84E-37E3-3D59-5D8626BB638E}"/>
              </a:ext>
            </a:extLst>
          </p:cNvPr>
          <p:cNvCxnSpPr/>
          <p:nvPr/>
        </p:nvCxnSpPr>
        <p:spPr>
          <a:xfrm flipV="1">
            <a:off x="4737570" y="5258796"/>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2B9619E-CBEA-D4E4-93D3-A67FFA6EBBE7}"/>
              </a:ext>
            </a:extLst>
          </p:cNvPr>
          <p:cNvCxnSpPr/>
          <p:nvPr/>
        </p:nvCxnSpPr>
        <p:spPr>
          <a:xfrm flipV="1">
            <a:off x="4732170" y="5071377"/>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7CB12C5-F40B-8918-4A41-732F8DB17021}"/>
              </a:ext>
            </a:extLst>
          </p:cNvPr>
          <p:cNvCxnSpPr/>
          <p:nvPr/>
        </p:nvCxnSpPr>
        <p:spPr>
          <a:xfrm flipV="1">
            <a:off x="4738914" y="5482721"/>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E65B041C-054A-E71B-347F-30DEB33487B5}"/>
              </a:ext>
            </a:extLst>
          </p:cNvPr>
          <p:cNvSpPr txBox="1"/>
          <p:nvPr/>
        </p:nvSpPr>
        <p:spPr>
          <a:xfrm>
            <a:off x="5295920" y="4679224"/>
            <a:ext cx="3325825" cy="1384995"/>
          </a:xfrm>
          <a:prstGeom prst="rect">
            <a:avLst/>
          </a:prstGeom>
          <a:noFill/>
        </p:spPr>
        <p:txBody>
          <a:bodyPr wrap="square" rtlCol="0">
            <a:spAutoFit/>
          </a:bodyPr>
          <a:lstStyle/>
          <a:p>
            <a:r>
              <a:rPr lang="en-US" sz="1400" dirty="0"/>
              <a:t>Award Application Form</a:t>
            </a:r>
          </a:p>
          <a:p>
            <a:r>
              <a:rPr lang="en-US" sz="1400" dirty="0"/>
              <a:t>Award Evaluation Criteria</a:t>
            </a:r>
          </a:p>
          <a:p>
            <a:r>
              <a:rPr lang="en-US" sz="1400" dirty="0"/>
              <a:t>Funding Priorities</a:t>
            </a:r>
          </a:p>
          <a:p>
            <a:r>
              <a:rPr lang="en-US" sz="1400" dirty="0"/>
              <a:t>Application Submission Link</a:t>
            </a:r>
          </a:p>
          <a:p>
            <a:r>
              <a:rPr lang="en-US" sz="1400" dirty="0"/>
              <a:t>Submitted Project List</a:t>
            </a:r>
          </a:p>
          <a:p>
            <a:r>
              <a:rPr lang="en-US" sz="1400" dirty="0"/>
              <a:t>Funded Project Summaries</a:t>
            </a:r>
            <a:endParaRPr lang="en-CA" sz="1400" dirty="0"/>
          </a:p>
        </p:txBody>
      </p:sp>
      <p:cxnSp>
        <p:nvCxnSpPr>
          <p:cNvPr id="75" name="Straight Connector 74">
            <a:extLst>
              <a:ext uri="{FF2B5EF4-FFF2-40B4-BE49-F238E27FC236}">
                <a16:creationId xmlns:a16="http://schemas.microsoft.com/office/drawing/2014/main" id="{2AD2E6BA-01D3-F848-D0A4-4B66990D6A62}"/>
              </a:ext>
            </a:extLst>
          </p:cNvPr>
          <p:cNvCxnSpPr>
            <a:cxnSpLocks/>
          </p:cNvCxnSpPr>
          <p:nvPr/>
        </p:nvCxnSpPr>
        <p:spPr>
          <a:xfrm>
            <a:off x="8958379" y="1527478"/>
            <a:ext cx="10787" cy="8876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8343A96-EF32-74C2-393C-6A17CC33837F}"/>
              </a:ext>
            </a:extLst>
          </p:cNvPr>
          <p:cNvCxnSpPr/>
          <p:nvPr/>
        </p:nvCxnSpPr>
        <p:spPr>
          <a:xfrm flipV="1">
            <a:off x="8965114" y="1532563"/>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E47D6DB-F11D-C479-664C-1E3C9129149B}"/>
              </a:ext>
            </a:extLst>
          </p:cNvPr>
          <p:cNvCxnSpPr/>
          <p:nvPr/>
        </p:nvCxnSpPr>
        <p:spPr>
          <a:xfrm flipV="1">
            <a:off x="8969166" y="1961394"/>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B24C4A2-7AFF-EF61-DC0B-282196F060A0}"/>
              </a:ext>
            </a:extLst>
          </p:cNvPr>
          <p:cNvCxnSpPr/>
          <p:nvPr/>
        </p:nvCxnSpPr>
        <p:spPr>
          <a:xfrm flipV="1">
            <a:off x="8963766" y="1773975"/>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864DB78-099A-E602-F58C-2F69DEE7D3F6}"/>
              </a:ext>
            </a:extLst>
          </p:cNvPr>
          <p:cNvCxnSpPr/>
          <p:nvPr/>
        </p:nvCxnSpPr>
        <p:spPr>
          <a:xfrm flipV="1">
            <a:off x="8970510" y="2169135"/>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51ED8D6-F393-03EF-3144-A4A932EA3C06}"/>
              </a:ext>
            </a:extLst>
          </p:cNvPr>
          <p:cNvCxnSpPr/>
          <p:nvPr/>
        </p:nvCxnSpPr>
        <p:spPr>
          <a:xfrm flipV="1">
            <a:off x="8961070" y="2415159"/>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23E1433-C642-2019-0650-04EC9DE93DA7}"/>
              </a:ext>
            </a:extLst>
          </p:cNvPr>
          <p:cNvCxnSpPr/>
          <p:nvPr/>
        </p:nvCxnSpPr>
        <p:spPr>
          <a:xfrm flipV="1">
            <a:off x="8394486" y="1972045"/>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34EC9DC8-6426-D05C-E484-A8CC5A324857}"/>
              </a:ext>
            </a:extLst>
          </p:cNvPr>
          <p:cNvSpPr txBox="1"/>
          <p:nvPr/>
        </p:nvSpPr>
        <p:spPr>
          <a:xfrm>
            <a:off x="9515149" y="1390318"/>
            <a:ext cx="2461981" cy="1169551"/>
          </a:xfrm>
          <a:prstGeom prst="rect">
            <a:avLst/>
          </a:prstGeom>
          <a:noFill/>
        </p:spPr>
        <p:txBody>
          <a:bodyPr wrap="square" rtlCol="0">
            <a:spAutoFit/>
          </a:bodyPr>
          <a:lstStyle/>
          <a:p>
            <a:r>
              <a:rPr lang="en-US" sz="1400" dirty="0"/>
              <a:t>Root Causes</a:t>
            </a:r>
          </a:p>
          <a:p>
            <a:r>
              <a:rPr lang="en-US" sz="1400" dirty="0"/>
              <a:t>Inflow</a:t>
            </a:r>
          </a:p>
          <a:p>
            <a:r>
              <a:rPr lang="en-US" sz="1400" dirty="0"/>
              <a:t>Throughput</a:t>
            </a:r>
          </a:p>
          <a:p>
            <a:r>
              <a:rPr lang="en-US" sz="1400" dirty="0"/>
              <a:t>Outflow</a:t>
            </a:r>
          </a:p>
          <a:p>
            <a:r>
              <a:rPr lang="en-US" sz="1400" dirty="0"/>
              <a:t>Overcapacity Protocols</a:t>
            </a:r>
            <a:endParaRPr lang="en-CA" sz="1400" dirty="0"/>
          </a:p>
        </p:txBody>
      </p:sp>
      <p:cxnSp>
        <p:nvCxnSpPr>
          <p:cNvPr id="86" name="Straight Connector 85">
            <a:extLst>
              <a:ext uri="{FF2B5EF4-FFF2-40B4-BE49-F238E27FC236}">
                <a16:creationId xmlns:a16="http://schemas.microsoft.com/office/drawing/2014/main" id="{D4AFE6F8-FB1F-108E-7928-5603DF4D4532}"/>
              </a:ext>
            </a:extLst>
          </p:cNvPr>
          <p:cNvCxnSpPr/>
          <p:nvPr/>
        </p:nvCxnSpPr>
        <p:spPr>
          <a:xfrm flipV="1">
            <a:off x="4716640" y="1036607"/>
            <a:ext cx="558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09A4AAA5-FE92-E151-0B1F-2FFF4838E22E}"/>
              </a:ext>
            </a:extLst>
          </p:cNvPr>
          <p:cNvSpPr txBox="1"/>
          <p:nvPr/>
        </p:nvSpPr>
        <p:spPr>
          <a:xfrm>
            <a:off x="619626" y="6268453"/>
            <a:ext cx="1143000" cy="369332"/>
          </a:xfrm>
          <a:prstGeom prst="rect">
            <a:avLst/>
          </a:prstGeom>
          <a:noFill/>
        </p:spPr>
        <p:txBody>
          <a:bodyPr wrap="square" rtlCol="0">
            <a:spAutoFit/>
          </a:bodyPr>
          <a:lstStyle/>
          <a:p>
            <a:r>
              <a:rPr lang="en-US" b="1" dirty="0"/>
              <a:t>Level 1</a:t>
            </a:r>
            <a:endParaRPr lang="en-CA" b="1" dirty="0"/>
          </a:p>
        </p:txBody>
      </p:sp>
      <p:sp>
        <p:nvSpPr>
          <p:cNvPr id="91" name="TextBox 90">
            <a:extLst>
              <a:ext uri="{FF2B5EF4-FFF2-40B4-BE49-F238E27FC236}">
                <a16:creationId xmlns:a16="http://schemas.microsoft.com/office/drawing/2014/main" id="{2D729DED-B480-9EA9-DAF7-FACFD2D76427}"/>
              </a:ext>
            </a:extLst>
          </p:cNvPr>
          <p:cNvSpPr txBox="1"/>
          <p:nvPr/>
        </p:nvSpPr>
        <p:spPr>
          <a:xfrm>
            <a:off x="5779736" y="6257014"/>
            <a:ext cx="1143000" cy="369332"/>
          </a:xfrm>
          <a:prstGeom prst="rect">
            <a:avLst/>
          </a:prstGeom>
          <a:noFill/>
        </p:spPr>
        <p:txBody>
          <a:bodyPr wrap="square" rtlCol="0">
            <a:spAutoFit/>
          </a:bodyPr>
          <a:lstStyle/>
          <a:p>
            <a:r>
              <a:rPr lang="en-US" b="1" dirty="0"/>
              <a:t>Level 3</a:t>
            </a:r>
            <a:endParaRPr lang="en-CA" b="1" dirty="0"/>
          </a:p>
        </p:txBody>
      </p:sp>
      <p:sp>
        <p:nvSpPr>
          <p:cNvPr id="93" name="TextBox 92">
            <a:extLst>
              <a:ext uri="{FF2B5EF4-FFF2-40B4-BE49-F238E27FC236}">
                <a16:creationId xmlns:a16="http://schemas.microsoft.com/office/drawing/2014/main" id="{370E01F6-7ACD-D328-20DD-50D66E1942CD}"/>
              </a:ext>
            </a:extLst>
          </p:cNvPr>
          <p:cNvSpPr txBox="1"/>
          <p:nvPr/>
        </p:nvSpPr>
        <p:spPr>
          <a:xfrm>
            <a:off x="2684200" y="6257014"/>
            <a:ext cx="1143000" cy="369332"/>
          </a:xfrm>
          <a:prstGeom prst="rect">
            <a:avLst/>
          </a:prstGeom>
          <a:noFill/>
        </p:spPr>
        <p:txBody>
          <a:bodyPr wrap="square" rtlCol="0">
            <a:spAutoFit/>
          </a:bodyPr>
          <a:lstStyle/>
          <a:p>
            <a:r>
              <a:rPr lang="en-US" b="1" dirty="0"/>
              <a:t>Level 2</a:t>
            </a:r>
            <a:endParaRPr lang="en-CA" b="1" dirty="0"/>
          </a:p>
        </p:txBody>
      </p:sp>
      <p:sp>
        <p:nvSpPr>
          <p:cNvPr id="95" name="TextBox 94">
            <a:extLst>
              <a:ext uri="{FF2B5EF4-FFF2-40B4-BE49-F238E27FC236}">
                <a16:creationId xmlns:a16="http://schemas.microsoft.com/office/drawing/2014/main" id="{1C8017C2-9A04-28B8-A569-83B439DCE76C}"/>
              </a:ext>
            </a:extLst>
          </p:cNvPr>
          <p:cNvSpPr txBox="1"/>
          <p:nvPr/>
        </p:nvSpPr>
        <p:spPr>
          <a:xfrm>
            <a:off x="9507800" y="6268453"/>
            <a:ext cx="1143000" cy="369332"/>
          </a:xfrm>
          <a:prstGeom prst="rect">
            <a:avLst/>
          </a:prstGeom>
          <a:noFill/>
        </p:spPr>
        <p:txBody>
          <a:bodyPr wrap="square" rtlCol="0">
            <a:spAutoFit/>
          </a:bodyPr>
          <a:lstStyle/>
          <a:p>
            <a:r>
              <a:rPr lang="en-US" b="1" dirty="0"/>
              <a:t>Level 4</a:t>
            </a:r>
            <a:endParaRPr lang="en-CA" b="1" dirty="0"/>
          </a:p>
        </p:txBody>
      </p:sp>
    </p:spTree>
    <p:extLst>
      <p:ext uri="{BB962C8B-B14F-4D97-AF65-F5344CB8AC3E}">
        <p14:creationId xmlns:p14="http://schemas.microsoft.com/office/powerpoint/2010/main" val="1973243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D8B87-E6E3-50F9-D30C-F04BA4B07DEB}"/>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7F4CBAE6-17F6-AFD9-0279-D5E1EE4A206C}"/>
              </a:ext>
            </a:extLst>
          </p:cNvPr>
          <p:cNvPicPr>
            <a:picLocks noChangeAspect="1"/>
          </p:cNvPicPr>
          <p:nvPr/>
        </p:nvPicPr>
        <p:blipFill>
          <a:blip r:embed="rId2"/>
          <a:stretch>
            <a:fillRect/>
          </a:stretch>
        </p:blipFill>
        <p:spPr>
          <a:xfrm>
            <a:off x="10043884" y="1559211"/>
            <a:ext cx="1807027" cy="1064995"/>
          </a:xfrm>
          <a:prstGeom prst="rect">
            <a:avLst/>
          </a:prstGeom>
        </p:spPr>
      </p:pic>
      <p:pic>
        <p:nvPicPr>
          <p:cNvPr id="10" name="Picture 9">
            <a:extLst>
              <a:ext uri="{FF2B5EF4-FFF2-40B4-BE49-F238E27FC236}">
                <a16:creationId xmlns:a16="http://schemas.microsoft.com/office/drawing/2014/main" id="{4334E3CE-D5A9-908D-97AA-205B06D1C312}"/>
              </a:ext>
            </a:extLst>
          </p:cNvPr>
          <p:cNvPicPr>
            <a:picLocks noChangeAspect="1"/>
          </p:cNvPicPr>
          <p:nvPr/>
        </p:nvPicPr>
        <p:blipFill>
          <a:blip r:embed="rId3"/>
          <a:stretch>
            <a:fillRect/>
          </a:stretch>
        </p:blipFill>
        <p:spPr>
          <a:xfrm>
            <a:off x="3465604" y="-26876"/>
            <a:ext cx="8741636" cy="1285636"/>
          </a:xfrm>
          <a:prstGeom prst="rect">
            <a:avLst/>
          </a:prstGeom>
        </p:spPr>
      </p:pic>
      <p:sp>
        <p:nvSpPr>
          <p:cNvPr id="46" name="Rectangle 45">
            <a:extLst>
              <a:ext uri="{FF2B5EF4-FFF2-40B4-BE49-F238E27FC236}">
                <a16:creationId xmlns:a16="http://schemas.microsoft.com/office/drawing/2014/main" id="{7CE48D4B-2EEF-E946-1C3E-7397B0D4BEA7}"/>
              </a:ext>
            </a:extLst>
          </p:cNvPr>
          <p:cNvSpPr/>
          <p:nvPr/>
        </p:nvSpPr>
        <p:spPr>
          <a:xfrm>
            <a:off x="6193891" y="1432647"/>
            <a:ext cx="3460472" cy="4094827"/>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Rectangle 43">
            <a:extLst>
              <a:ext uri="{FF2B5EF4-FFF2-40B4-BE49-F238E27FC236}">
                <a16:creationId xmlns:a16="http://schemas.microsoft.com/office/drawing/2014/main" id="{C245FFE4-A34E-F14F-4067-2310F6FD2847}"/>
              </a:ext>
            </a:extLst>
          </p:cNvPr>
          <p:cNvSpPr/>
          <p:nvPr/>
        </p:nvSpPr>
        <p:spPr>
          <a:xfrm>
            <a:off x="0" y="5793004"/>
            <a:ext cx="12192000" cy="1064995"/>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Box 3">
            <a:extLst>
              <a:ext uri="{FF2B5EF4-FFF2-40B4-BE49-F238E27FC236}">
                <a16:creationId xmlns:a16="http://schemas.microsoft.com/office/drawing/2014/main" id="{F5297BBF-9252-CFAB-4017-6F7513EC95C5}"/>
              </a:ext>
            </a:extLst>
          </p:cNvPr>
          <p:cNvSpPr txBox="1"/>
          <p:nvPr/>
        </p:nvSpPr>
        <p:spPr>
          <a:xfrm>
            <a:off x="5709551" y="66600"/>
            <a:ext cx="6614159" cy="1046440"/>
          </a:xfrm>
          <a:prstGeom prst="rect">
            <a:avLst/>
          </a:prstGeom>
          <a:noFill/>
        </p:spPr>
        <p:txBody>
          <a:bodyPr wrap="square" rtlCol="0">
            <a:spAutoFit/>
          </a:bodyPr>
          <a:lstStyle/>
          <a:p>
            <a:pPr algn="ctr"/>
            <a:r>
              <a:rPr lang="en-US" sz="4400" b="1" i="1" dirty="0">
                <a:solidFill>
                  <a:schemeClr val="bg1"/>
                </a:solidFill>
              </a:rPr>
              <a:t>No Patient Left Behind</a:t>
            </a:r>
          </a:p>
          <a:p>
            <a:pPr algn="ctr"/>
            <a:r>
              <a:rPr lang="en-US" dirty="0">
                <a:solidFill>
                  <a:schemeClr val="bg1"/>
                </a:solidFill>
              </a:rPr>
              <a:t>The Grant Innes Health Endowment Fund</a:t>
            </a:r>
            <a:endParaRPr lang="en-CA" dirty="0">
              <a:solidFill>
                <a:schemeClr val="bg1"/>
              </a:solidFill>
            </a:endParaRPr>
          </a:p>
        </p:txBody>
      </p:sp>
      <p:sp>
        <p:nvSpPr>
          <p:cNvPr id="6" name="TextBox 5">
            <a:extLst>
              <a:ext uri="{FF2B5EF4-FFF2-40B4-BE49-F238E27FC236}">
                <a16:creationId xmlns:a16="http://schemas.microsoft.com/office/drawing/2014/main" id="{3354E2EC-8F3D-EF10-B7E7-CA4075628ACE}"/>
              </a:ext>
            </a:extLst>
          </p:cNvPr>
          <p:cNvSpPr txBox="1"/>
          <p:nvPr/>
        </p:nvSpPr>
        <p:spPr>
          <a:xfrm>
            <a:off x="6296228" y="1551152"/>
            <a:ext cx="3216957" cy="3838358"/>
          </a:xfrm>
          <a:prstGeom prst="rect">
            <a:avLst/>
          </a:prstGeom>
          <a:noFill/>
        </p:spPr>
        <p:txBody>
          <a:bodyPr wrap="square" rtlCol="0">
            <a:spAutoFit/>
          </a:bodyPr>
          <a:lstStyle/>
          <a:p>
            <a:pPr algn="ctr">
              <a:lnSpc>
                <a:spcPct val="107000"/>
              </a:lnSpc>
              <a:spcAft>
                <a:spcPts val="800"/>
              </a:spcAft>
            </a:pPr>
            <a:r>
              <a:rPr lang="en-CA" sz="1200" dirty="0">
                <a:solidFill>
                  <a:schemeClr val="bg1"/>
                </a:solidFill>
                <a:latin typeface="Calibri" panose="020F0502020204030204" pitchFamily="34" charset="0"/>
                <a:cs typeface="Calibri" panose="020F0502020204030204" pitchFamily="34" charset="0"/>
              </a:rPr>
              <a:t>Canadians face long delays to access primary care, specialist care, hospital care, long-term care, and surgical care. As a result, Canada leads wealthy nations in emergency department use, which has left ERs overwhelmed and unable to provide timely emergency care. Health experts believe that increasing system efficiency could reduce patient waiting times by 30% to 50%. Following a recent pancreatic cancer diagnosis, Dr. Innes launched the "No Patient Left Behind" health endowment fund to ensure his work on the healthcare crisis continues. The fund aims to reduce care delays in hospitals and communities using three main strategies: teaching healthcare staff and managers more efficient care delivery methods; supporting visionary leaders focused on healthcare improvement; and Implementing clear policies and accountability standards to assure faster, high-quality care.</a:t>
            </a:r>
          </a:p>
        </p:txBody>
      </p:sp>
      <p:sp>
        <p:nvSpPr>
          <p:cNvPr id="7" name="TextBox 6">
            <a:extLst>
              <a:ext uri="{FF2B5EF4-FFF2-40B4-BE49-F238E27FC236}">
                <a16:creationId xmlns:a16="http://schemas.microsoft.com/office/drawing/2014/main" id="{5A0F418F-10D0-44B7-0201-BEB9C8283716}"/>
              </a:ext>
            </a:extLst>
          </p:cNvPr>
          <p:cNvSpPr txBox="1"/>
          <p:nvPr/>
        </p:nvSpPr>
        <p:spPr>
          <a:xfrm>
            <a:off x="2154732" y="6006711"/>
            <a:ext cx="921224" cy="523220"/>
          </a:xfrm>
          <a:prstGeom prst="rect">
            <a:avLst/>
          </a:prstGeom>
          <a:solidFill>
            <a:schemeClr val="accent1">
              <a:lumMod val="60000"/>
              <a:lumOff val="40000"/>
            </a:schemeClr>
          </a:solidFill>
          <a:ln>
            <a:solidFill>
              <a:schemeClr val="tx1"/>
            </a:solidFill>
          </a:ln>
        </p:spPr>
        <p:txBody>
          <a:bodyPr wrap="square" rtlCol="0">
            <a:spAutoFit/>
          </a:bodyPr>
          <a:lstStyle/>
          <a:p>
            <a:pPr algn="ctr"/>
            <a:r>
              <a:rPr lang="en-US" sz="1400" b="1" dirty="0"/>
              <a:t>Who are we?</a:t>
            </a:r>
          </a:p>
        </p:txBody>
      </p:sp>
      <p:sp>
        <p:nvSpPr>
          <p:cNvPr id="27" name="TextBox 26">
            <a:extLst>
              <a:ext uri="{FF2B5EF4-FFF2-40B4-BE49-F238E27FC236}">
                <a16:creationId xmlns:a16="http://schemas.microsoft.com/office/drawing/2014/main" id="{A92121C3-5BD4-7905-C1E5-C792D8748D90}"/>
              </a:ext>
            </a:extLst>
          </p:cNvPr>
          <p:cNvSpPr txBox="1"/>
          <p:nvPr/>
        </p:nvSpPr>
        <p:spPr>
          <a:xfrm>
            <a:off x="3223274" y="6001737"/>
            <a:ext cx="847179" cy="523220"/>
          </a:xfrm>
          <a:prstGeom prst="rect">
            <a:avLst/>
          </a:prstGeom>
          <a:solidFill>
            <a:schemeClr val="accent1">
              <a:lumMod val="60000"/>
              <a:lumOff val="40000"/>
            </a:schemeClr>
          </a:solidFill>
          <a:ln>
            <a:solidFill>
              <a:schemeClr val="tx1"/>
            </a:solidFill>
          </a:ln>
        </p:spPr>
        <p:txBody>
          <a:bodyPr wrap="square" rtlCol="0">
            <a:spAutoFit/>
          </a:bodyPr>
          <a:lstStyle/>
          <a:p>
            <a:pPr algn="ctr"/>
            <a:r>
              <a:rPr lang="en-US" sz="1400" b="1" dirty="0"/>
              <a:t>Our Mission</a:t>
            </a:r>
          </a:p>
        </p:txBody>
      </p:sp>
      <p:sp>
        <p:nvSpPr>
          <p:cNvPr id="29" name="TextBox 28">
            <a:extLst>
              <a:ext uri="{FF2B5EF4-FFF2-40B4-BE49-F238E27FC236}">
                <a16:creationId xmlns:a16="http://schemas.microsoft.com/office/drawing/2014/main" id="{EEBDA9BA-8111-F488-2EE5-89628845AE43}"/>
              </a:ext>
            </a:extLst>
          </p:cNvPr>
          <p:cNvSpPr txBox="1"/>
          <p:nvPr/>
        </p:nvSpPr>
        <p:spPr>
          <a:xfrm>
            <a:off x="10579854" y="6003340"/>
            <a:ext cx="1128647" cy="523220"/>
          </a:xfrm>
          <a:prstGeom prst="rect">
            <a:avLst/>
          </a:prstGeom>
          <a:solidFill>
            <a:schemeClr val="accent1">
              <a:lumMod val="60000"/>
              <a:lumOff val="40000"/>
            </a:schemeClr>
          </a:solidFill>
          <a:ln>
            <a:solidFill>
              <a:schemeClr val="tx1"/>
            </a:solidFill>
          </a:ln>
        </p:spPr>
        <p:txBody>
          <a:bodyPr wrap="square" rtlCol="0">
            <a:spAutoFit/>
          </a:bodyPr>
          <a:lstStyle/>
          <a:p>
            <a:pPr algn="ctr"/>
            <a:r>
              <a:rPr lang="en-CA" sz="1400" b="1" dirty="0"/>
              <a:t>Education Links</a:t>
            </a:r>
            <a:endParaRPr lang="en-US" sz="1400" b="1" dirty="0"/>
          </a:p>
        </p:txBody>
      </p:sp>
      <p:sp>
        <p:nvSpPr>
          <p:cNvPr id="31" name="TextBox 30">
            <a:extLst>
              <a:ext uri="{FF2B5EF4-FFF2-40B4-BE49-F238E27FC236}">
                <a16:creationId xmlns:a16="http://schemas.microsoft.com/office/drawing/2014/main" id="{67BF3589-370D-082D-2F0F-7E4B39AA6883}"/>
              </a:ext>
            </a:extLst>
          </p:cNvPr>
          <p:cNvSpPr txBox="1"/>
          <p:nvPr/>
        </p:nvSpPr>
        <p:spPr>
          <a:xfrm>
            <a:off x="4197695" y="5990421"/>
            <a:ext cx="1387714" cy="523220"/>
          </a:xfrm>
          <a:prstGeom prst="rect">
            <a:avLst/>
          </a:prstGeom>
          <a:solidFill>
            <a:schemeClr val="accent1">
              <a:lumMod val="60000"/>
              <a:lumOff val="40000"/>
            </a:schemeClr>
          </a:solidFill>
          <a:ln>
            <a:solidFill>
              <a:schemeClr val="tx1"/>
            </a:solidFill>
          </a:ln>
        </p:spPr>
        <p:txBody>
          <a:bodyPr wrap="square" rtlCol="0">
            <a:spAutoFit/>
          </a:bodyPr>
          <a:lstStyle/>
          <a:p>
            <a:pPr algn="ctr"/>
            <a:r>
              <a:rPr lang="en-US" sz="1400" b="1" dirty="0"/>
              <a:t>Improvement Resources</a:t>
            </a:r>
          </a:p>
        </p:txBody>
      </p:sp>
      <p:sp>
        <p:nvSpPr>
          <p:cNvPr id="33" name="TextBox 32">
            <a:extLst>
              <a:ext uri="{FF2B5EF4-FFF2-40B4-BE49-F238E27FC236}">
                <a16:creationId xmlns:a16="http://schemas.microsoft.com/office/drawing/2014/main" id="{D0905BC9-2402-FBA3-3299-6316442F73B0}"/>
              </a:ext>
            </a:extLst>
          </p:cNvPr>
          <p:cNvSpPr txBox="1"/>
          <p:nvPr/>
        </p:nvSpPr>
        <p:spPr>
          <a:xfrm>
            <a:off x="5731282" y="5996079"/>
            <a:ext cx="1387714" cy="523220"/>
          </a:xfrm>
          <a:prstGeom prst="rect">
            <a:avLst/>
          </a:prstGeom>
          <a:solidFill>
            <a:schemeClr val="accent1">
              <a:lumMod val="60000"/>
              <a:lumOff val="40000"/>
            </a:schemeClr>
          </a:solidFill>
          <a:ln>
            <a:solidFill>
              <a:schemeClr val="tx1"/>
            </a:solidFill>
          </a:ln>
        </p:spPr>
        <p:txBody>
          <a:bodyPr wrap="square" rtlCol="0">
            <a:spAutoFit/>
          </a:bodyPr>
          <a:lstStyle/>
          <a:p>
            <a:pPr algn="ctr"/>
            <a:r>
              <a:rPr lang="en-CA" sz="1400" b="1" dirty="0"/>
              <a:t>Improvement Strategies</a:t>
            </a:r>
            <a:endParaRPr lang="en-US" sz="1400" b="1" dirty="0"/>
          </a:p>
        </p:txBody>
      </p:sp>
      <p:sp>
        <p:nvSpPr>
          <p:cNvPr id="35" name="TextBox 34">
            <a:extLst>
              <a:ext uri="{FF2B5EF4-FFF2-40B4-BE49-F238E27FC236}">
                <a16:creationId xmlns:a16="http://schemas.microsoft.com/office/drawing/2014/main" id="{D2EE2212-901C-D42F-FF57-D0BB43193081}"/>
              </a:ext>
            </a:extLst>
          </p:cNvPr>
          <p:cNvSpPr txBox="1"/>
          <p:nvPr/>
        </p:nvSpPr>
        <p:spPr>
          <a:xfrm>
            <a:off x="8943847" y="6003340"/>
            <a:ext cx="1512119" cy="523220"/>
          </a:xfrm>
          <a:prstGeom prst="rect">
            <a:avLst/>
          </a:prstGeom>
          <a:solidFill>
            <a:schemeClr val="accent1">
              <a:lumMod val="60000"/>
              <a:lumOff val="40000"/>
            </a:schemeClr>
          </a:solidFill>
          <a:ln>
            <a:solidFill>
              <a:schemeClr val="tx1"/>
            </a:solidFill>
          </a:ln>
        </p:spPr>
        <p:txBody>
          <a:bodyPr wrap="square" rtlCol="0">
            <a:spAutoFit/>
          </a:bodyPr>
          <a:lstStyle/>
          <a:p>
            <a:pPr algn="ctr"/>
            <a:r>
              <a:rPr lang="en-CA" sz="1400" b="1" dirty="0"/>
              <a:t>Awards and Applications</a:t>
            </a:r>
            <a:endParaRPr lang="en-US" sz="1400" b="1" dirty="0"/>
          </a:p>
        </p:txBody>
      </p:sp>
      <p:sp>
        <p:nvSpPr>
          <p:cNvPr id="38" name="TextBox 37">
            <a:extLst>
              <a:ext uri="{FF2B5EF4-FFF2-40B4-BE49-F238E27FC236}">
                <a16:creationId xmlns:a16="http://schemas.microsoft.com/office/drawing/2014/main" id="{DBDF6713-1CE8-6B6C-21D6-631E4B28726D}"/>
              </a:ext>
            </a:extLst>
          </p:cNvPr>
          <p:cNvSpPr txBox="1"/>
          <p:nvPr/>
        </p:nvSpPr>
        <p:spPr>
          <a:xfrm>
            <a:off x="364504" y="6001737"/>
            <a:ext cx="1666310" cy="523220"/>
          </a:xfrm>
          <a:prstGeom prst="rect">
            <a:avLst/>
          </a:prstGeom>
          <a:solidFill>
            <a:schemeClr val="accent1">
              <a:lumMod val="60000"/>
              <a:lumOff val="40000"/>
            </a:schemeClr>
          </a:solidFill>
          <a:ln>
            <a:solidFill>
              <a:schemeClr val="tx1"/>
            </a:solidFill>
          </a:ln>
        </p:spPr>
        <p:txBody>
          <a:bodyPr wrap="square" rtlCol="0">
            <a:spAutoFit/>
          </a:bodyPr>
          <a:lstStyle/>
          <a:p>
            <a:pPr algn="ctr"/>
            <a:r>
              <a:rPr lang="en-CA" sz="1400" b="1" dirty="0"/>
              <a:t>Why “</a:t>
            </a:r>
            <a:r>
              <a:rPr lang="en-CA" sz="1400" b="1" i="1" dirty="0"/>
              <a:t>No Patient Left Behind.”</a:t>
            </a:r>
          </a:p>
        </p:txBody>
      </p:sp>
      <p:sp>
        <p:nvSpPr>
          <p:cNvPr id="40" name="TextBox 39">
            <a:extLst>
              <a:ext uri="{FF2B5EF4-FFF2-40B4-BE49-F238E27FC236}">
                <a16:creationId xmlns:a16="http://schemas.microsoft.com/office/drawing/2014/main" id="{9B5F40F2-F9B1-5E55-B0AF-13F216503E25}"/>
              </a:ext>
            </a:extLst>
          </p:cNvPr>
          <p:cNvSpPr txBox="1"/>
          <p:nvPr/>
        </p:nvSpPr>
        <p:spPr>
          <a:xfrm>
            <a:off x="7275911" y="6003340"/>
            <a:ext cx="1512119" cy="523220"/>
          </a:xfrm>
          <a:prstGeom prst="rect">
            <a:avLst/>
          </a:prstGeom>
          <a:solidFill>
            <a:schemeClr val="accent1">
              <a:lumMod val="60000"/>
              <a:lumOff val="40000"/>
            </a:schemeClr>
          </a:solidFill>
          <a:ln>
            <a:solidFill>
              <a:schemeClr val="tx1"/>
            </a:solidFill>
          </a:ln>
        </p:spPr>
        <p:txBody>
          <a:bodyPr wrap="square" rtlCol="0">
            <a:spAutoFit/>
          </a:bodyPr>
          <a:lstStyle/>
          <a:p>
            <a:pPr algn="ctr"/>
            <a:r>
              <a:rPr lang="en-CA" sz="1400" b="1" dirty="0"/>
              <a:t>Accountability Frameworks</a:t>
            </a:r>
            <a:endParaRPr lang="en-US" sz="1400" b="1" dirty="0"/>
          </a:p>
        </p:txBody>
      </p:sp>
      <p:pic>
        <p:nvPicPr>
          <p:cNvPr id="50" name="Picture 49">
            <a:extLst>
              <a:ext uri="{FF2B5EF4-FFF2-40B4-BE49-F238E27FC236}">
                <a16:creationId xmlns:a16="http://schemas.microsoft.com/office/drawing/2014/main" id="{FFF52C6D-E0BE-5F32-95F8-91A0167C9B17}"/>
              </a:ext>
            </a:extLst>
          </p:cNvPr>
          <p:cNvPicPr>
            <a:picLocks noChangeAspect="1"/>
          </p:cNvPicPr>
          <p:nvPr/>
        </p:nvPicPr>
        <p:blipFill>
          <a:blip r:embed="rId4"/>
          <a:stretch>
            <a:fillRect/>
          </a:stretch>
        </p:blipFill>
        <p:spPr>
          <a:xfrm>
            <a:off x="10283770" y="4199369"/>
            <a:ext cx="1287780" cy="1298379"/>
          </a:xfrm>
          <a:prstGeom prst="rect">
            <a:avLst/>
          </a:prstGeom>
        </p:spPr>
      </p:pic>
      <p:sp>
        <p:nvSpPr>
          <p:cNvPr id="51" name="TextBox 50">
            <a:extLst>
              <a:ext uri="{FF2B5EF4-FFF2-40B4-BE49-F238E27FC236}">
                <a16:creationId xmlns:a16="http://schemas.microsoft.com/office/drawing/2014/main" id="{219A38E6-4823-5F06-7BF1-B3396DDC5A46}"/>
              </a:ext>
            </a:extLst>
          </p:cNvPr>
          <p:cNvSpPr txBox="1"/>
          <p:nvPr/>
        </p:nvSpPr>
        <p:spPr>
          <a:xfrm>
            <a:off x="10171511" y="3772471"/>
            <a:ext cx="1419726" cy="307777"/>
          </a:xfrm>
          <a:prstGeom prst="rect">
            <a:avLst/>
          </a:prstGeom>
          <a:noFill/>
        </p:spPr>
        <p:txBody>
          <a:bodyPr wrap="square" rtlCol="0">
            <a:spAutoFit/>
          </a:bodyPr>
          <a:lstStyle/>
          <a:p>
            <a:r>
              <a:rPr lang="en-US" sz="1400" dirty="0"/>
              <a:t>Donation Link</a:t>
            </a:r>
            <a:endParaRPr lang="en-CA" sz="1400" dirty="0"/>
          </a:p>
        </p:txBody>
      </p:sp>
      <p:pic>
        <p:nvPicPr>
          <p:cNvPr id="12" name="Picture 11">
            <a:extLst>
              <a:ext uri="{FF2B5EF4-FFF2-40B4-BE49-F238E27FC236}">
                <a16:creationId xmlns:a16="http://schemas.microsoft.com/office/drawing/2014/main" id="{182B047B-1974-C67A-2195-C00DBC884132}"/>
              </a:ext>
            </a:extLst>
          </p:cNvPr>
          <p:cNvPicPr>
            <a:picLocks noChangeAspect="1"/>
          </p:cNvPicPr>
          <p:nvPr/>
        </p:nvPicPr>
        <p:blipFill>
          <a:blip r:embed="rId5"/>
          <a:stretch>
            <a:fillRect/>
          </a:stretch>
        </p:blipFill>
        <p:spPr>
          <a:xfrm>
            <a:off x="-15580" y="-39399"/>
            <a:ext cx="6013691" cy="5897780"/>
          </a:xfrm>
          <a:prstGeom prst="rect">
            <a:avLst/>
          </a:prstGeom>
        </p:spPr>
      </p:pic>
      <p:sp>
        <p:nvSpPr>
          <p:cNvPr id="13" name="TextBox 12">
            <a:extLst>
              <a:ext uri="{FF2B5EF4-FFF2-40B4-BE49-F238E27FC236}">
                <a16:creationId xmlns:a16="http://schemas.microsoft.com/office/drawing/2014/main" id="{A70213AD-13E2-6CCE-B034-E34365F7AC32}"/>
              </a:ext>
            </a:extLst>
          </p:cNvPr>
          <p:cNvSpPr txBox="1"/>
          <p:nvPr/>
        </p:nvSpPr>
        <p:spPr>
          <a:xfrm>
            <a:off x="10043886" y="1594873"/>
            <a:ext cx="1807028" cy="1015663"/>
          </a:xfrm>
          <a:prstGeom prst="rect">
            <a:avLst/>
          </a:prstGeom>
          <a:noFill/>
        </p:spPr>
        <p:txBody>
          <a:bodyPr wrap="square" rtlCol="0">
            <a:spAutoFit/>
          </a:bodyPr>
          <a:lstStyle/>
          <a:p>
            <a:r>
              <a:rPr lang="en-US" sz="1200" b="1" dirty="0">
                <a:solidFill>
                  <a:schemeClr val="bg1"/>
                </a:solidFill>
                <a:latin typeface="Calibri" panose="020F0502020204030204" pitchFamily="34" charset="0"/>
                <a:cs typeface="Calibri" panose="020F0502020204030204" pitchFamily="34" charset="0"/>
              </a:rPr>
              <a:t>If materials on this site were helpful, please consider a tax deductible donation to the </a:t>
            </a:r>
            <a:r>
              <a:rPr lang="en-US" sz="1200" b="1" i="1" dirty="0">
                <a:solidFill>
                  <a:schemeClr val="bg1"/>
                </a:solidFill>
                <a:latin typeface="Calibri" panose="020F0502020204030204" pitchFamily="34" charset="0"/>
                <a:cs typeface="Calibri" panose="020F0502020204030204" pitchFamily="34" charset="0"/>
              </a:rPr>
              <a:t>No Patient Left Behind </a:t>
            </a:r>
            <a:r>
              <a:rPr lang="en-US" sz="1200" b="1" dirty="0">
                <a:solidFill>
                  <a:schemeClr val="bg1"/>
                </a:solidFill>
                <a:latin typeface="Calibri" panose="020F0502020204030204" pitchFamily="34" charset="0"/>
                <a:cs typeface="Calibri" panose="020F0502020204030204" pitchFamily="34" charset="0"/>
              </a:rPr>
              <a:t>Fund</a:t>
            </a:r>
            <a:endParaRPr lang="en-CA" sz="12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6019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B6741-7ADF-A6AA-1A54-DA4660A803C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B5A6908-ADAB-3E94-0EEE-EDFB36A12666}"/>
              </a:ext>
            </a:extLst>
          </p:cNvPr>
          <p:cNvPicPr>
            <a:picLocks noChangeAspect="1"/>
          </p:cNvPicPr>
          <p:nvPr/>
        </p:nvPicPr>
        <p:blipFill>
          <a:blip r:embed="rId2"/>
          <a:stretch>
            <a:fillRect/>
          </a:stretch>
        </p:blipFill>
        <p:spPr>
          <a:xfrm>
            <a:off x="3465604" y="-26876"/>
            <a:ext cx="8741636" cy="1285636"/>
          </a:xfrm>
          <a:prstGeom prst="rect">
            <a:avLst/>
          </a:prstGeom>
        </p:spPr>
      </p:pic>
      <p:sp>
        <p:nvSpPr>
          <p:cNvPr id="46" name="Rectangle 45">
            <a:extLst>
              <a:ext uri="{FF2B5EF4-FFF2-40B4-BE49-F238E27FC236}">
                <a16:creationId xmlns:a16="http://schemas.microsoft.com/office/drawing/2014/main" id="{D5D9AEFC-88EF-F6BB-0060-606B31F527D1}"/>
              </a:ext>
            </a:extLst>
          </p:cNvPr>
          <p:cNvSpPr/>
          <p:nvPr/>
        </p:nvSpPr>
        <p:spPr>
          <a:xfrm>
            <a:off x="5044441" y="1655426"/>
            <a:ext cx="3972190" cy="3730670"/>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4" name="Rectangle 43">
            <a:extLst>
              <a:ext uri="{FF2B5EF4-FFF2-40B4-BE49-F238E27FC236}">
                <a16:creationId xmlns:a16="http://schemas.microsoft.com/office/drawing/2014/main" id="{76500197-053A-3C34-8B49-4D67553B65C3}"/>
              </a:ext>
            </a:extLst>
          </p:cNvPr>
          <p:cNvSpPr/>
          <p:nvPr/>
        </p:nvSpPr>
        <p:spPr>
          <a:xfrm>
            <a:off x="227154" y="5793005"/>
            <a:ext cx="11737691" cy="852676"/>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TextBox 3">
            <a:extLst>
              <a:ext uri="{FF2B5EF4-FFF2-40B4-BE49-F238E27FC236}">
                <a16:creationId xmlns:a16="http://schemas.microsoft.com/office/drawing/2014/main" id="{5F70F138-419F-68B4-4568-9B9398E64A19}"/>
              </a:ext>
            </a:extLst>
          </p:cNvPr>
          <p:cNvSpPr txBox="1"/>
          <p:nvPr/>
        </p:nvSpPr>
        <p:spPr>
          <a:xfrm>
            <a:off x="4353147" y="75159"/>
            <a:ext cx="6614159" cy="104644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400" b="1" i="1" u="none" strike="noStrike" kern="1200" cap="none" spc="0" normalizeH="0" baseline="0" noProof="0" dirty="0">
                <a:ln>
                  <a:noFill/>
                </a:ln>
                <a:solidFill>
                  <a:prstClr val="black"/>
                </a:solidFill>
                <a:effectLst/>
                <a:uLnTx/>
                <a:uFillTx/>
                <a:latin typeface="Century Gothic" panose="020B0502020202020204"/>
                <a:ea typeface="+mn-ea"/>
                <a:cs typeface="+mn-cs"/>
              </a:rPr>
              <a:t>No Patient Left Behind</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a:ea typeface="+mn-ea"/>
                <a:cs typeface="+mn-cs"/>
              </a:rPr>
              <a:t>The Grant Innes Health Endowment Fund</a:t>
            </a:r>
            <a:endParaRPr kumimoji="0" lang="en-CA"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6" name="TextBox 5">
            <a:extLst>
              <a:ext uri="{FF2B5EF4-FFF2-40B4-BE49-F238E27FC236}">
                <a16:creationId xmlns:a16="http://schemas.microsoft.com/office/drawing/2014/main" id="{23E5507A-A76C-9132-4DFD-3B12D1DD5A7C}"/>
              </a:ext>
            </a:extLst>
          </p:cNvPr>
          <p:cNvSpPr txBox="1"/>
          <p:nvPr/>
        </p:nvSpPr>
        <p:spPr>
          <a:xfrm>
            <a:off x="5234101" y="1772778"/>
            <a:ext cx="3635580" cy="3628557"/>
          </a:xfrm>
          <a:prstGeom prst="rect">
            <a:avLst/>
          </a:prstGeom>
          <a:noFill/>
        </p:spPr>
        <p:txBody>
          <a:bodyPr wrap="square" rtlCol="0">
            <a:spAutoFit/>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kumimoji="0" lang="en-CA" sz="1100" b="1" i="0" u="none" strike="noStrike" kern="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Calibri" panose="020F0502020204030204" pitchFamily="34" charset="0"/>
              </a:rPr>
              <a:t>Canadians Struggle to Get Healthcare</a:t>
            </a:r>
            <a:r>
              <a:rPr kumimoji="0" lang="en-CA" sz="1100" b="0" i="0" u="none" strike="noStrike" kern="1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r>
              <a:rPr kumimoji="0" lang="en-CA" sz="1100" b="0" i="0" u="none" strike="noStrike" kern="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Calibri" panose="020F0502020204030204" pitchFamily="34" charset="0"/>
              </a:rPr>
              <a:t>Canada uses emergency departments more than any other wealthy nation. This isn't because people prefer the ED; it's because they face long delays everywhere else—from finding a family doctor or specialist to getting a hospital bed, long-term care, or routine surgery. Health experts believe that by making our healthcare system more efficient, we can cut these waiting times by 30% to 50%. </a:t>
            </a:r>
            <a:endParaRPr kumimoji="0" lang="en-CA"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ct val="107000"/>
              </a:lnSpc>
              <a:spcBef>
                <a:spcPts val="0"/>
              </a:spcBef>
              <a:spcAft>
                <a:spcPts val="800"/>
              </a:spcAft>
              <a:buClrTx/>
              <a:buSzTx/>
              <a:buFontTx/>
              <a:buNone/>
              <a:tabLst/>
              <a:defRPr/>
            </a:pPr>
            <a:r>
              <a:rPr kumimoji="0" lang="en-CA"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Dr. Innes’ work focuses on solutions for the growing crisis in emergency care. A diagnosis of pancreatic cancer, and the hope that his work could continue, motivated him to launch the “</a:t>
            </a:r>
            <a:r>
              <a:rPr kumimoji="0" lang="en-CA" sz="1100" b="0" i="1"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 patient Left Behind</a:t>
            </a:r>
            <a:r>
              <a:rPr kumimoji="0" lang="en-CA"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health endowment fund. Its </a:t>
            </a:r>
            <a:r>
              <a:rPr kumimoji="0" lang="en-CA" sz="1100" b="0" i="0" u="none" strike="noStrike" kern="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Calibri" panose="020F0502020204030204" pitchFamily="34" charset="0"/>
              </a:rPr>
              <a:t>mission is to reduce care delays in hospitals and communities by supporting visionary leaders who are dedicated to system improvement,</a:t>
            </a:r>
            <a:r>
              <a:rPr kumimoji="0" lang="en-CA"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by t</a:t>
            </a:r>
            <a:r>
              <a:rPr kumimoji="0" lang="en-CA" sz="1100" b="0" i="0" u="none" strike="noStrike" kern="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Calibri" panose="020F0502020204030204" pitchFamily="34" charset="0"/>
              </a:rPr>
              <a:t>raining doctors, nurses, and managers in more efficient ways to deliver patient care, and by introducing clear hospital policies and accountability standards to ensure patients get the fast, high-quality care they deserve.</a:t>
            </a:r>
            <a:endParaRPr kumimoji="0" lang="en-CA"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DFB5B28-B332-A256-6658-DCC371D3424A}"/>
              </a:ext>
            </a:extLst>
          </p:cNvPr>
          <p:cNvSpPr txBox="1"/>
          <p:nvPr/>
        </p:nvSpPr>
        <p:spPr>
          <a:xfrm>
            <a:off x="2154732" y="6006711"/>
            <a:ext cx="921224" cy="523220"/>
          </a:xfrm>
          <a:prstGeom prst="rect">
            <a:avLst/>
          </a:prstGeom>
          <a:solidFill>
            <a:schemeClr val="accent1">
              <a:lumMod val="60000"/>
              <a:lumOff val="40000"/>
            </a:schemeClr>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entury Gothic" panose="020B0502020202020204"/>
                <a:ea typeface="+mn-ea"/>
                <a:cs typeface="+mn-cs"/>
              </a:rPr>
              <a:t>Who are we?</a:t>
            </a:r>
          </a:p>
        </p:txBody>
      </p:sp>
      <p:sp>
        <p:nvSpPr>
          <p:cNvPr id="27" name="TextBox 26">
            <a:extLst>
              <a:ext uri="{FF2B5EF4-FFF2-40B4-BE49-F238E27FC236}">
                <a16:creationId xmlns:a16="http://schemas.microsoft.com/office/drawing/2014/main" id="{F11785A9-8471-28E5-FCCD-854876CD4253}"/>
              </a:ext>
            </a:extLst>
          </p:cNvPr>
          <p:cNvSpPr txBox="1"/>
          <p:nvPr/>
        </p:nvSpPr>
        <p:spPr>
          <a:xfrm>
            <a:off x="3223274" y="6001737"/>
            <a:ext cx="847179" cy="523220"/>
          </a:xfrm>
          <a:prstGeom prst="rect">
            <a:avLst/>
          </a:prstGeom>
          <a:solidFill>
            <a:schemeClr val="accent1">
              <a:lumMod val="60000"/>
              <a:lumOff val="40000"/>
            </a:schemeClr>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entury Gothic" panose="020B0502020202020204"/>
                <a:ea typeface="+mn-ea"/>
                <a:cs typeface="+mn-cs"/>
              </a:rPr>
              <a:t>Our Mission</a:t>
            </a:r>
          </a:p>
        </p:txBody>
      </p:sp>
      <p:sp>
        <p:nvSpPr>
          <p:cNvPr id="29" name="TextBox 28">
            <a:extLst>
              <a:ext uri="{FF2B5EF4-FFF2-40B4-BE49-F238E27FC236}">
                <a16:creationId xmlns:a16="http://schemas.microsoft.com/office/drawing/2014/main" id="{61CED4AB-8FB6-06F5-BF21-B4B5D798339E}"/>
              </a:ext>
            </a:extLst>
          </p:cNvPr>
          <p:cNvSpPr txBox="1"/>
          <p:nvPr/>
        </p:nvSpPr>
        <p:spPr>
          <a:xfrm>
            <a:off x="10579854" y="6003340"/>
            <a:ext cx="1128647" cy="523220"/>
          </a:xfrm>
          <a:prstGeom prst="rect">
            <a:avLst/>
          </a:prstGeom>
          <a:solidFill>
            <a:schemeClr val="accent1">
              <a:lumMod val="60000"/>
              <a:lumOff val="40000"/>
            </a:schemeClr>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dirty="0">
                <a:ln>
                  <a:noFill/>
                </a:ln>
                <a:solidFill>
                  <a:prstClr val="white"/>
                </a:solidFill>
                <a:effectLst/>
                <a:uLnTx/>
                <a:uFillTx/>
                <a:latin typeface="Century Gothic" panose="020B0502020202020204"/>
                <a:ea typeface="+mn-ea"/>
                <a:cs typeface="+mn-cs"/>
              </a:rPr>
              <a:t>Education Links</a:t>
            </a:r>
            <a:endParaRPr kumimoji="0" lang="en-US" sz="1400" b="1"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TextBox 30">
            <a:extLst>
              <a:ext uri="{FF2B5EF4-FFF2-40B4-BE49-F238E27FC236}">
                <a16:creationId xmlns:a16="http://schemas.microsoft.com/office/drawing/2014/main" id="{65DCE1BA-F131-12DE-4A54-54F5D1E26D7E}"/>
              </a:ext>
            </a:extLst>
          </p:cNvPr>
          <p:cNvSpPr txBox="1"/>
          <p:nvPr/>
        </p:nvSpPr>
        <p:spPr>
          <a:xfrm>
            <a:off x="4197695" y="5990421"/>
            <a:ext cx="1387714" cy="523220"/>
          </a:xfrm>
          <a:prstGeom prst="rect">
            <a:avLst/>
          </a:prstGeom>
          <a:solidFill>
            <a:schemeClr val="accent1">
              <a:lumMod val="60000"/>
              <a:lumOff val="40000"/>
            </a:schemeClr>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entury Gothic" panose="020B0502020202020204"/>
                <a:ea typeface="+mn-ea"/>
                <a:cs typeface="+mn-cs"/>
              </a:rPr>
              <a:t>Improvement Resources</a:t>
            </a:r>
          </a:p>
        </p:txBody>
      </p:sp>
      <p:sp>
        <p:nvSpPr>
          <p:cNvPr id="33" name="TextBox 32">
            <a:extLst>
              <a:ext uri="{FF2B5EF4-FFF2-40B4-BE49-F238E27FC236}">
                <a16:creationId xmlns:a16="http://schemas.microsoft.com/office/drawing/2014/main" id="{A2ECFCE1-B9D1-292D-D683-163481A39697}"/>
              </a:ext>
            </a:extLst>
          </p:cNvPr>
          <p:cNvSpPr txBox="1"/>
          <p:nvPr/>
        </p:nvSpPr>
        <p:spPr>
          <a:xfrm>
            <a:off x="5731282" y="5996079"/>
            <a:ext cx="1387714" cy="523220"/>
          </a:xfrm>
          <a:prstGeom prst="rect">
            <a:avLst/>
          </a:prstGeom>
          <a:solidFill>
            <a:schemeClr val="accent1">
              <a:lumMod val="60000"/>
              <a:lumOff val="40000"/>
            </a:schemeClr>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dirty="0">
                <a:ln>
                  <a:noFill/>
                </a:ln>
                <a:solidFill>
                  <a:prstClr val="white"/>
                </a:solidFill>
                <a:effectLst/>
                <a:uLnTx/>
                <a:uFillTx/>
                <a:latin typeface="Century Gothic" panose="020B0502020202020204"/>
                <a:ea typeface="+mn-ea"/>
                <a:cs typeface="+mn-cs"/>
              </a:rPr>
              <a:t>Improvement Strategies</a:t>
            </a:r>
            <a:endParaRPr kumimoji="0" lang="en-US" sz="1400" b="1"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5" name="TextBox 34">
            <a:extLst>
              <a:ext uri="{FF2B5EF4-FFF2-40B4-BE49-F238E27FC236}">
                <a16:creationId xmlns:a16="http://schemas.microsoft.com/office/drawing/2014/main" id="{EBCC4E2F-0F60-9234-80A0-6B5951CD74F4}"/>
              </a:ext>
            </a:extLst>
          </p:cNvPr>
          <p:cNvSpPr txBox="1"/>
          <p:nvPr/>
        </p:nvSpPr>
        <p:spPr>
          <a:xfrm>
            <a:off x="8943847" y="6003340"/>
            <a:ext cx="1512119" cy="523220"/>
          </a:xfrm>
          <a:prstGeom prst="rect">
            <a:avLst/>
          </a:prstGeom>
          <a:solidFill>
            <a:schemeClr val="accent1">
              <a:lumMod val="60000"/>
              <a:lumOff val="40000"/>
            </a:schemeClr>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dirty="0">
                <a:ln>
                  <a:noFill/>
                </a:ln>
                <a:solidFill>
                  <a:prstClr val="white"/>
                </a:solidFill>
                <a:effectLst/>
                <a:uLnTx/>
                <a:uFillTx/>
                <a:latin typeface="Century Gothic" panose="020B0502020202020204"/>
                <a:ea typeface="+mn-ea"/>
                <a:cs typeface="+mn-cs"/>
              </a:rPr>
              <a:t>Awards and Applications</a:t>
            </a:r>
            <a:endParaRPr kumimoji="0" lang="en-US" sz="1400" b="1"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8" name="TextBox 37">
            <a:extLst>
              <a:ext uri="{FF2B5EF4-FFF2-40B4-BE49-F238E27FC236}">
                <a16:creationId xmlns:a16="http://schemas.microsoft.com/office/drawing/2014/main" id="{25356EB8-DF12-49F2-A7E9-8B68CDBEA65B}"/>
              </a:ext>
            </a:extLst>
          </p:cNvPr>
          <p:cNvSpPr txBox="1"/>
          <p:nvPr/>
        </p:nvSpPr>
        <p:spPr>
          <a:xfrm>
            <a:off x="364504" y="6001737"/>
            <a:ext cx="1666310" cy="523220"/>
          </a:xfrm>
          <a:prstGeom prst="rect">
            <a:avLst/>
          </a:prstGeom>
          <a:solidFill>
            <a:schemeClr val="accent1">
              <a:lumMod val="60000"/>
              <a:lumOff val="40000"/>
            </a:schemeClr>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dirty="0">
                <a:ln>
                  <a:noFill/>
                </a:ln>
                <a:solidFill>
                  <a:prstClr val="white"/>
                </a:solidFill>
                <a:effectLst/>
                <a:uLnTx/>
                <a:uFillTx/>
                <a:latin typeface="Century Gothic" panose="020B0502020202020204"/>
                <a:ea typeface="+mn-ea"/>
                <a:cs typeface="+mn-cs"/>
              </a:rPr>
              <a:t>Why “</a:t>
            </a:r>
            <a:r>
              <a:rPr kumimoji="0" lang="en-CA" sz="1400" b="1" i="1" u="none" strike="noStrike" kern="1200" cap="none" spc="0" normalizeH="0" baseline="0" noProof="0" dirty="0">
                <a:ln>
                  <a:noFill/>
                </a:ln>
                <a:solidFill>
                  <a:prstClr val="white"/>
                </a:solidFill>
                <a:effectLst/>
                <a:uLnTx/>
                <a:uFillTx/>
                <a:latin typeface="Century Gothic" panose="020B0502020202020204"/>
                <a:ea typeface="+mn-ea"/>
                <a:cs typeface="+mn-cs"/>
              </a:rPr>
              <a:t>No Patient Left Behind.”</a:t>
            </a:r>
          </a:p>
        </p:txBody>
      </p:sp>
      <p:sp>
        <p:nvSpPr>
          <p:cNvPr id="40" name="TextBox 39">
            <a:extLst>
              <a:ext uri="{FF2B5EF4-FFF2-40B4-BE49-F238E27FC236}">
                <a16:creationId xmlns:a16="http://schemas.microsoft.com/office/drawing/2014/main" id="{CC6A3E95-22F0-6AD3-5CD2-53A5B01E24E4}"/>
              </a:ext>
            </a:extLst>
          </p:cNvPr>
          <p:cNvSpPr txBox="1"/>
          <p:nvPr/>
        </p:nvSpPr>
        <p:spPr>
          <a:xfrm>
            <a:off x="7275911" y="6003340"/>
            <a:ext cx="1512119" cy="523220"/>
          </a:xfrm>
          <a:prstGeom prst="rect">
            <a:avLst/>
          </a:prstGeom>
          <a:solidFill>
            <a:schemeClr val="accent1">
              <a:lumMod val="60000"/>
              <a:lumOff val="40000"/>
            </a:schemeClr>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dirty="0">
                <a:ln>
                  <a:noFill/>
                </a:ln>
                <a:solidFill>
                  <a:prstClr val="white"/>
                </a:solidFill>
                <a:effectLst/>
                <a:uLnTx/>
                <a:uFillTx/>
                <a:latin typeface="Century Gothic" panose="020B0502020202020204"/>
                <a:ea typeface="+mn-ea"/>
                <a:cs typeface="+mn-cs"/>
              </a:rPr>
              <a:t>Accountability Frameworks</a:t>
            </a:r>
            <a:endParaRPr kumimoji="0" lang="en-US" sz="1400" b="1"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50" name="Picture 49">
            <a:extLst>
              <a:ext uri="{FF2B5EF4-FFF2-40B4-BE49-F238E27FC236}">
                <a16:creationId xmlns:a16="http://schemas.microsoft.com/office/drawing/2014/main" id="{42DBAF31-10A8-7314-494F-27F9F2031036}"/>
              </a:ext>
            </a:extLst>
          </p:cNvPr>
          <p:cNvPicPr>
            <a:picLocks noChangeAspect="1"/>
          </p:cNvPicPr>
          <p:nvPr/>
        </p:nvPicPr>
        <p:blipFill>
          <a:blip r:embed="rId3"/>
          <a:stretch>
            <a:fillRect/>
          </a:stretch>
        </p:blipFill>
        <p:spPr>
          <a:xfrm>
            <a:off x="9996684" y="4029241"/>
            <a:ext cx="1287780" cy="1298379"/>
          </a:xfrm>
          <a:prstGeom prst="rect">
            <a:avLst/>
          </a:prstGeom>
        </p:spPr>
      </p:pic>
      <p:sp>
        <p:nvSpPr>
          <p:cNvPr id="51" name="TextBox 50">
            <a:extLst>
              <a:ext uri="{FF2B5EF4-FFF2-40B4-BE49-F238E27FC236}">
                <a16:creationId xmlns:a16="http://schemas.microsoft.com/office/drawing/2014/main" id="{EA1A72A1-1750-DD46-1C5B-403CEED9E84B}"/>
              </a:ext>
            </a:extLst>
          </p:cNvPr>
          <p:cNvSpPr txBox="1"/>
          <p:nvPr/>
        </p:nvSpPr>
        <p:spPr>
          <a:xfrm>
            <a:off x="9884425" y="3602343"/>
            <a:ext cx="1419726"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entury Gothic" panose="020B0502020202020204"/>
                <a:ea typeface="+mn-ea"/>
                <a:cs typeface="+mn-cs"/>
              </a:rPr>
              <a:t>Donation Link</a:t>
            </a:r>
            <a:endParaRPr kumimoji="0" lang="en-CA" sz="14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3" name="Picture 2">
            <a:extLst>
              <a:ext uri="{FF2B5EF4-FFF2-40B4-BE49-F238E27FC236}">
                <a16:creationId xmlns:a16="http://schemas.microsoft.com/office/drawing/2014/main" id="{D0B472F4-B15D-41AC-ABCA-30EB5E834825}"/>
              </a:ext>
            </a:extLst>
          </p:cNvPr>
          <p:cNvPicPr>
            <a:picLocks noChangeAspect="1"/>
          </p:cNvPicPr>
          <p:nvPr/>
        </p:nvPicPr>
        <p:blipFill>
          <a:blip r:embed="rId4"/>
          <a:stretch>
            <a:fillRect/>
          </a:stretch>
        </p:blipFill>
        <p:spPr>
          <a:xfrm>
            <a:off x="10294" y="0"/>
            <a:ext cx="3599204" cy="3599204"/>
          </a:xfrm>
          <a:prstGeom prst="rect">
            <a:avLst/>
          </a:prstGeom>
        </p:spPr>
      </p:pic>
      <p:sp>
        <p:nvSpPr>
          <p:cNvPr id="8" name="TextBox 7">
            <a:extLst>
              <a:ext uri="{FF2B5EF4-FFF2-40B4-BE49-F238E27FC236}">
                <a16:creationId xmlns:a16="http://schemas.microsoft.com/office/drawing/2014/main" id="{A31CC0AB-022F-A8DB-8F09-8D3783061543}"/>
              </a:ext>
            </a:extLst>
          </p:cNvPr>
          <p:cNvSpPr txBox="1"/>
          <p:nvPr/>
        </p:nvSpPr>
        <p:spPr>
          <a:xfrm>
            <a:off x="803366" y="4111329"/>
            <a:ext cx="2013060" cy="1169551"/>
          </a:xfrm>
          <a:prstGeom prst="rect">
            <a:avLst/>
          </a:prstGeom>
          <a:solidFill>
            <a:schemeClr val="accent4">
              <a:lumMod val="40000"/>
              <a:lumOff val="60000"/>
            </a:schemeClr>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entury Gothic" panose="020B0502020202020204"/>
                <a:ea typeface="+mn-ea"/>
                <a:cs typeface="+mn-cs"/>
              </a:rPr>
              <a:t>If the information on this site was helpful, please consider making a tax-deductible donation</a:t>
            </a:r>
            <a:endParaRPr kumimoji="0" lang="en-CA" sz="14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5459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90C3D8-7B95-38B2-0D85-38DB064752F0}"/>
              </a:ext>
            </a:extLst>
          </p:cNvPr>
          <p:cNvSpPr txBox="1"/>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lnSpc>
                <a:spcPct val="90000"/>
              </a:lnSpc>
              <a:spcBef>
                <a:spcPct val="0"/>
              </a:spcBef>
              <a:spcAft>
                <a:spcPts val="600"/>
              </a:spcAft>
            </a:pPr>
            <a:r>
              <a:rPr lang="en-US" sz="2600" b="1" kern="1200">
                <a:solidFill>
                  <a:srgbClr val="FFFFFF"/>
                </a:solidFill>
                <a:latin typeface="+mj-lt"/>
                <a:ea typeface="+mj-ea"/>
                <a:cs typeface="+mj-cs"/>
              </a:rPr>
              <a:t>Who Are We (the Board)</a:t>
            </a:r>
          </a:p>
        </p:txBody>
      </p:sp>
      <p:pic>
        <p:nvPicPr>
          <p:cNvPr id="6" name="Picture 5">
            <a:extLst>
              <a:ext uri="{FF2B5EF4-FFF2-40B4-BE49-F238E27FC236}">
                <a16:creationId xmlns:a16="http://schemas.microsoft.com/office/drawing/2014/main" id="{754FD917-79D0-AE9E-40CE-1F77138BC67A}"/>
              </a:ext>
            </a:extLst>
          </p:cNvPr>
          <p:cNvPicPr>
            <a:picLocks noChangeAspect="1"/>
          </p:cNvPicPr>
          <p:nvPr/>
        </p:nvPicPr>
        <p:blipFill>
          <a:blip r:embed="rId2"/>
          <a:stretch>
            <a:fillRect/>
          </a:stretch>
        </p:blipFill>
        <p:spPr>
          <a:xfrm>
            <a:off x="10606589" y="255559"/>
            <a:ext cx="1147945" cy="1510455"/>
          </a:xfrm>
          <a:prstGeom prst="rect">
            <a:avLst/>
          </a:prstGeom>
        </p:spPr>
      </p:pic>
      <p:sp>
        <p:nvSpPr>
          <p:cNvPr id="7" name="TextBox 6">
            <a:extLst>
              <a:ext uri="{FF2B5EF4-FFF2-40B4-BE49-F238E27FC236}">
                <a16:creationId xmlns:a16="http://schemas.microsoft.com/office/drawing/2014/main" id="{121A9C8E-406D-CF9C-0295-EACAACE1FF7A}"/>
              </a:ext>
            </a:extLst>
          </p:cNvPr>
          <p:cNvSpPr txBox="1"/>
          <p:nvPr/>
        </p:nvSpPr>
        <p:spPr>
          <a:xfrm>
            <a:off x="640081" y="349266"/>
            <a:ext cx="9842826"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dirty="0">
                <a:latin typeface="Calibri" panose="020F0502020204030204" pitchFamily="34" charset="0"/>
                <a:cs typeface="Calibri" panose="020F0502020204030204" pitchFamily="34" charset="0"/>
              </a:rPr>
              <a:t>Dr. Innes worked 42 years as an emergency physician in Calgary, Vancouver and Oliver, BC. He previously served as chair of Vancouver Coastal Health Emergency Services, Professor of Emergency Medicine at the University of Calgary, founding editor of the </a:t>
            </a:r>
            <a:r>
              <a:rPr lang="en-CA" sz="1200" i="1" dirty="0">
                <a:latin typeface="Calibri" panose="020F0502020204030204" pitchFamily="34" charset="0"/>
                <a:cs typeface="Calibri" panose="020F0502020204030204" pitchFamily="34" charset="0"/>
              </a:rPr>
              <a:t>Canadian Journal of Emergency Medicine, </a:t>
            </a:r>
            <a:r>
              <a:rPr lang="en-CA" sz="1200" dirty="0">
                <a:latin typeface="Calibri" panose="020F0502020204030204" pitchFamily="34" charset="0"/>
                <a:cs typeface="Calibri" panose="020F0502020204030204" pitchFamily="34" charset="0"/>
              </a:rPr>
              <a:t>and a senior author of the recent EMPOWER Report on the Future of Emergency Medicine. He is an expert in emergency care and has led large-scale system change in two provinces. He has received many awards for health quality, innovation and</a:t>
            </a:r>
            <a:r>
              <a:rPr lang="en-CA" sz="1200" i="1" dirty="0">
                <a:latin typeface="Calibri" panose="020F0502020204030204" pitchFamily="34" charset="0"/>
                <a:cs typeface="Calibri" panose="020F0502020204030204" pitchFamily="34" charset="0"/>
              </a:rPr>
              <a:t> lifetime contributions to Emergency Medicine.</a:t>
            </a:r>
            <a:r>
              <a:rPr lang="en-CA" sz="1200" dirty="0">
                <a:latin typeface="Calibri" panose="020F0502020204030204" pitchFamily="34" charset="0"/>
                <a:cs typeface="Calibri" panose="020F0502020204030204" pitchFamily="34" charset="0"/>
              </a:rPr>
              <a:t> </a:t>
            </a:r>
            <a:r>
              <a:rPr kumimoji="0" lang="en-CA"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Dr. Innes believes current care delays can be substantially reduced by introducing accountability frameworks and operational improvements. His recent diagnosis of pancreatic cancer, and the hope his work could continue in the future, motivated him to launch the “</a:t>
            </a:r>
            <a:r>
              <a:rPr kumimoji="0" lang="en-CA" sz="1200" b="0"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No patient Left Behind</a:t>
            </a:r>
            <a:r>
              <a:rPr kumimoji="0" lang="en-CA"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 health system endowment fund, which will support future development of healthcare improvement strategies and system accountability measures to increase patient access to appropriate care.</a:t>
            </a:r>
          </a:p>
          <a:p>
            <a:endParaRPr lang="en-CA" sz="1200" b="0" dirty="0">
              <a:effectLst/>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B6111595-8A23-1D44-4E0A-623A0457FBB2}"/>
              </a:ext>
            </a:extLst>
          </p:cNvPr>
          <p:cNvPicPr>
            <a:picLocks noChangeAspect="1"/>
          </p:cNvPicPr>
          <p:nvPr/>
        </p:nvPicPr>
        <p:blipFill>
          <a:blip r:embed="rId3"/>
          <a:stretch>
            <a:fillRect/>
          </a:stretch>
        </p:blipFill>
        <p:spPr>
          <a:xfrm>
            <a:off x="10948275" y="3096410"/>
            <a:ext cx="912554" cy="1116558"/>
          </a:xfrm>
          <a:prstGeom prst="rect">
            <a:avLst/>
          </a:prstGeom>
        </p:spPr>
      </p:pic>
      <p:sp>
        <p:nvSpPr>
          <p:cNvPr id="14" name="TextBox 13">
            <a:extLst>
              <a:ext uri="{FF2B5EF4-FFF2-40B4-BE49-F238E27FC236}">
                <a16:creationId xmlns:a16="http://schemas.microsoft.com/office/drawing/2014/main" id="{F2501AFC-C140-BC26-9C20-7B4F410C5891}"/>
              </a:ext>
            </a:extLst>
          </p:cNvPr>
          <p:cNvSpPr txBox="1"/>
          <p:nvPr/>
        </p:nvSpPr>
        <p:spPr>
          <a:xfrm>
            <a:off x="3454139" y="3252973"/>
            <a:ext cx="7178413" cy="646331"/>
          </a:xfrm>
          <a:prstGeom prst="rect">
            <a:avLst/>
          </a:prstGeom>
          <a:noFill/>
        </p:spPr>
        <p:txBody>
          <a:bodyPr wrap="square" rtlCol="0">
            <a:spAutoFit/>
          </a:bodyPr>
          <a:lstStyle/>
          <a:p>
            <a:r>
              <a:rPr lang="en-CA" sz="1200" dirty="0">
                <a:latin typeface="Calibri" panose="020F0502020204030204" pitchFamily="34" charset="0"/>
                <a:cs typeface="Calibri" panose="020F0502020204030204" pitchFamily="34" charset="0"/>
              </a:rPr>
              <a:t>Dr. Anton Helman is an emergency physician at North York General in Toronto. He is an Assistant Professor at the University of Toronto, Division of Emergency Medicine and the Education Innovation Lead at the Schwartz-Reisman Emergency Medicine Institute. He is the founder, editor-in-chief and host of Emergency Medicine Cases</a:t>
            </a:r>
          </a:p>
        </p:txBody>
      </p:sp>
      <p:pic>
        <p:nvPicPr>
          <p:cNvPr id="17" name="Picture 16">
            <a:extLst>
              <a:ext uri="{FF2B5EF4-FFF2-40B4-BE49-F238E27FC236}">
                <a16:creationId xmlns:a16="http://schemas.microsoft.com/office/drawing/2014/main" id="{0EF60F8D-1D46-4192-0C0C-7F5C57555BDE}"/>
              </a:ext>
            </a:extLst>
          </p:cNvPr>
          <p:cNvPicPr>
            <a:picLocks noChangeAspect="1"/>
          </p:cNvPicPr>
          <p:nvPr/>
        </p:nvPicPr>
        <p:blipFill>
          <a:blip r:embed="rId4"/>
          <a:stretch>
            <a:fillRect/>
          </a:stretch>
        </p:blipFill>
        <p:spPr>
          <a:xfrm flipH="1">
            <a:off x="10892072" y="5735880"/>
            <a:ext cx="1034809" cy="820008"/>
          </a:xfrm>
          <a:prstGeom prst="rect">
            <a:avLst/>
          </a:prstGeom>
        </p:spPr>
      </p:pic>
      <p:sp>
        <p:nvSpPr>
          <p:cNvPr id="18" name="TextBox 17">
            <a:extLst>
              <a:ext uri="{FF2B5EF4-FFF2-40B4-BE49-F238E27FC236}">
                <a16:creationId xmlns:a16="http://schemas.microsoft.com/office/drawing/2014/main" id="{5F703D1A-48FF-6AA3-BA9A-EAE1EE744560}"/>
              </a:ext>
            </a:extLst>
          </p:cNvPr>
          <p:cNvSpPr txBox="1"/>
          <p:nvPr/>
        </p:nvSpPr>
        <p:spPr>
          <a:xfrm>
            <a:off x="640079" y="5605042"/>
            <a:ext cx="10045641" cy="1384995"/>
          </a:xfrm>
          <a:prstGeom prst="rect">
            <a:avLst/>
          </a:prstGeom>
          <a:noFill/>
        </p:spPr>
        <p:txBody>
          <a:bodyPr wrap="square" rtlCol="0">
            <a:spAutoFit/>
          </a:bodyPr>
          <a:lstStyle/>
          <a:p>
            <a:r>
              <a:rPr lang="en-CA" sz="1200" dirty="0">
                <a:latin typeface="Calibri" panose="020F0502020204030204" pitchFamily="34" charset="0"/>
                <a:cs typeface="Calibri" panose="020F0502020204030204" pitchFamily="34" charset="0"/>
              </a:rPr>
              <a:t>Dr. Sutherland is the Director of the Centre for Health Services and Policy Research (CHSPR) and is the UBC Professor of Health Services and Policy in the University of British Columbia’s School of Population and Public Health (SPPH). He has been leading policy and health services research in two domains: health care funding policy and variations in patients’ health status attributable to health services. Dr. Sutherland has extensive collaborative relationships with health services researchers, decision-makers and clinicians across Canada, the US and Europe. Dr. Sutherland provides advice and recommendations on health system funding policies to a number of Canadian governments </a:t>
            </a:r>
            <a:endParaRPr lang="en-CA" sz="1200" b="0" dirty="0">
              <a:effectLst/>
              <a:latin typeface="Calibri" panose="020F0502020204030204" pitchFamily="34" charset="0"/>
              <a:cs typeface="Calibri" panose="020F0502020204030204" pitchFamily="34" charset="0"/>
            </a:endParaRPr>
          </a:p>
          <a:p>
            <a:br>
              <a:rPr lang="en-CA" sz="1200" dirty="0">
                <a:latin typeface="Calibri" panose="020F0502020204030204" pitchFamily="34" charset="0"/>
                <a:cs typeface="Calibri" panose="020F0502020204030204" pitchFamily="34" charset="0"/>
              </a:rPr>
            </a:br>
            <a:endParaRPr lang="en-CA" sz="1200" dirty="0">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1A7A33D-9C1C-8727-3424-414582AE41CC}"/>
              </a:ext>
            </a:extLst>
          </p:cNvPr>
          <p:cNvSpPr txBox="1"/>
          <p:nvPr/>
        </p:nvSpPr>
        <p:spPr>
          <a:xfrm>
            <a:off x="3392433" y="4197424"/>
            <a:ext cx="7293287" cy="1672253"/>
          </a:xfrm>
          <a:prstGeom prst="rect">
            <a:avLst/>
          </a:prstGeom>
          <a:noFill/>
        </p:spPr>
        <p:txBody>
          <a:bodyPr wrap="square" rtlCol="0">
            <a:spAutoFit/>
          </a:bodyPr>
          <a:lstStyle/>
          <a:p>
            <a:pPr rtl="0">
              <a:spcAft>
                <a:spcPts val="800"/>
              </a:spcAft>
              <a:buNone/>
            </a:pPr>
            <a:r>
              <a:rPr lang="en-CA" sz="1200" b="0" i="0" u="none" strike="noStrike" dirty="0">
                <a:effectLst/>
                <a:latin typeface="Calibri" panose="020F0502020204030204" pitchFamily="34" charset="0"/>
                <a:cs typeface="Calibri" panose="020F0502020204030204" pitchFamily="34" charset="0"/>
              </a:rPr>
              <a:t>Dr. Shelley McLeod is a Clinical Epidemiologist and the Research Director of the Schwartz/Reisman Emergency Medicine Institute (SREMI) at Sinai Health and an Associate Professor in the Dept of Family and Community Medicine and the Institute of Health Policy, Management and Evaluation at the University of Toronto.</a:t>
            </a:r>
            <a:r>
              <a:rPr lang="en-CA" sz="1200" dirty="0">
                <a:latin typeface="Calibri" panose="020F0502020204030204" pitchFamily="34" charset="0"/>
                <a:cs typeface="Calibri" panose="020F0502020204030204" pitchFamily="34" charset="0"/>
              </a:rPr>
              <a:t> </a:t>
            </a:r>
            <a:r>
              <a:rPr kumimoji="0" lang="en-CA" sz="1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Dr. McLeod has</a:t>
            </a:r>
            <a:r>
              <a:rPr lang="en-CA" sz="1200" b="0" i="0" u="none" strike="noStrike" dirty="0">
                <a:effectLst/>
                <a:latin typeface="Calibri" panose="020F0502020204030204" pitchFamily="34" charset="0"/>
                <a:cs typeface="Calibri" panose="020F0502020204030204" pitchFamily="34" charset="0"/>
              </a:rPr>
              <a:t> over 20 years experience in emergency medicine research, and has authored more than 155 publications across a wide range of emergency medicine topics. Her interests include emergency department triage and patient flow, evidence synthesis clinical trial design, and program evaluation</a:t>
            </a:r>
            <a:endParaRPr lang="en-CA" sz="1200" b="0" dirty="0">
              <a:effectLst/>
              <a:latin typeface="Calibri" panose="020F0502020204030204" pitchFamily="34" charset="0"/>
              <a:cs typeface="Calibri" panose="020F0502020204030204" pitchFamily="34" charset="0"/>
            </a:endParaRPr>
          </a:p>
          <a:p>
            <a:pPr>
              <a:buNone/>
            </a:pPr>
            <a:br>
              <a:rPr lang="en-CA" sz="1200" dirty="0">
                <a:latin typeface="Calibri" panose="020F0502020204030204" pitchFamily="34" charset="0"/>
                <a:cs typeface="Calibri" panose="020F0502020204030204" pitchFamily="34" charset="0"/>
              </a:rPr>
            </a:br>
            <a:endParaRPr lang="en-CA" sz="1200" dirty="0">
              <a:latin typeface="Calibri" panose="020F0502020204030204" pitchFamily="34" charset="0"/>
              <a:cs typeface="Calibri" panose="020F0502020204030204" pitchFamily="34" charset="0"/>
            </a:endParaRPr>
          </a:p>
        </p:txBody>
      </p:sp>
      <p:pic>
        <p:nvPicPr>
          <p:cNvPr id="20" name="Picture 19">
            <a:extLst>
              <a:ext uri="{FF2B5EF4-FFF2-40B4-BE49-F238E27FC236}">
                <a16:creationId xmlns:a16="http://schemas.microsoft.com/office/drawing/2014/main" id="{622157F6-AB08-6F58-115C-FAF7F1FD9136}"/>
              </a:ext>
            </a:extLst>
          </p:cNvPr>
          <p:cNvPicPr>
            <a:picLocks noChangeAspect="1"/>
          </p:cNvPicPr>
          <p:nvPr/>
        </p:nvPicPr>
        <p:blipFill>
          <a:blip r:embed="rId5"/>
          <a:stretch>
            <a:fillRect/>
          </a:stretch>
        </p:blipFill>
        <p:spPr>
          <a:xfrm>
            <a:off x="10948275" y="4349280"/>
            <a:ext cx="946703" cy="1222409"/>
          </a:xfrm>
          <a:prstGeom prst="rect">
            <a:avLst/>
          </a:prstGeom>
        </p:spPr>
      </p:pic>
      <p:pic>
        <p:nvPicPr>
          <p:cNvPr id="22" name="Picture 21">
            <a:extLst>
              <a:ext uri="{FF2B5EF4-FFF2-40B4-BE49-F238E27FC236}">
                <a16:creationId xmlns:a16="http://schemas.microsoft.com/office/drawing/2014/main" id="{97CBB321-C890-28CA-F454-8DCB8D014D40}"/>
              </a:ext>
            </a:extLst>
          </p:cNvPr>
          <p:cNvPicPr>
            <a:picLocks noChangeAspect="1"/>
          </p:cNvPicPr>
          <p:nvPr/>
        </p:nvPicPr>
        <p:blipFill>
          <a:blip r:embed="rId6"/>
          <a:stretch>
            <a:fillRect/>
          </a:stretch>
        </p:blipFill>
        <p:spPr>
          <a:xfrm>
            <a:off x="3409786" y="1872344"/>
            <a:ext cx="7178413" cy="1237595"/>
          </a:xfrm>
          <a:prstGeom prst="rect">
            <a:avLst/>
          </a:prstGeom>
        </p:spPr>
      </p:pic>
    </p:spTree>
    <p:extLst>
      <p:ext uri="{BB962C8B-B14F-4D97-AF65-F5344CB8AC3E}">
        <p14:creationId xmlns:p14="http://schemas.microsoft.com/office/powerpoint/2010/main" val="3618411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2379DD-89A4-A682-A718-9C98052122EE}"/>
              </a:ext>
            </a:extLst>
          </p:cNvPr>
          <p:cNvSpPr txBox="1"/>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lnSpc>
                <a:spcPct val="90000"/>
              </a:lnSpc>
              <a:spcBef>
                <a:spcPct val="0"/>
              </a:spcBef>
              <a:spcAft>
                <a:spcPts val="600"/>
              </a:spcAft>
            </a:pPr>
            <a:r>
              <a:rPr lang="en-US" sz="2600" b="1" kern="1200" dirty="0">
                <a:solidFill>
                  <a:srgbClr val="FFFFFF"/>
                </a:solidFill>
                <a:latin typeface="+mj-lt"/>
                <a:ea typeface="+mj-ea"/>
                <a:cs typeface="+mj-cs"/>
              </a:rPr>
              <a:t>Who Are We (the Board)</a:t>
            </a:r>
          </a:p>
        </p:txBody>
      </p:sp>
      <p:sp>
        <p:nvSpPr>
          <p:cNvPr id="6" name="TextBox 5">
            <a:extLst>
              <a:ext uri="{FF2B5EF4-FFF2-40B4-BE49-F238E27FC236}">
                <a16:creationId xmlns:a16="http://schemas.microsoft.com/office/drawing/2014/main" id="{9F039CF4-4614-A432-F80D-6EB5B788F4FD}"/>
              </a:ext>
            </a:extLst>
          </p:cNvPr>
          <p:cNvSpPr txBox="1"/>
          <p:nvPr/>
        </p:nvSpPr>
        <p:spPr>
          <a:xfrm>
            <a:off x="533749" y="244545"/>
            <a:ext cx="9928688" cy="646331"/>
          </a:xfrm>
          <a:prstGeom prst="rect">
            <a:avLst/>
          </a:prstGeom>
          <a:noFill/>
        </p:spPr>
        <p:txBody>
          <a:bodyPr wrap="square" rtlCol="0">
            <a:spAutoFit/>
          </a:bodyPr>
          <a:lstStyle/>
          <a:p>
            <a:pPr rtl="0">
              <a:buNone/>
            </a:pPr>
            <a:r>
              <a:rPr lang="en-CA" sz="1200" b="0" i="0" u="none" strike="noStrike" dirty="0">
                <a:effectLst/>
                <a:latin typeface="Calibri" panose="020F0502020204030204" pitchFamily="34" charset="0"/>
                <a:cs typeface="Calibri" panose="020F0502020204030204" pitchFamily="34" charset="0"/>
              </a:rPr>
              <a:t>Dr. Eric Grafstein completed Medical School at the University of Toronto in 1985 and completed his Emergency Medicine training at McGill in 1991. He has been practicing as an Emergency Physician in Vancouver for over 30 years. Eric was the Regional Head of Emergency Medicine at Vancouver Coastal Health - Providence Health Care from 2012 to 2026. He currently serves as the Regional Chief Medical Information Officer and the Chief Medical Analytics Officer.</a:t>
            </a:r>
            <a:endParaRPr lang="en-CA" sz="1200"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8B510425-7EC6-3BDD-8F0C-1BDFE770FBDC}"/>
              </a:ext>
            </a:extLst>
          </p:cNvPr>
          <p:cNvPicPr>
            <a:picLocks noChangeAspect="1"/>
          </p:cNvPicPr>
          <p:nvPr/>
        </p:nvPicPr>
        <p:blipFill>
          <a:blip r:embed="rId3"/>
          <a:stretch>
            <a:fillRect/>
          </a:stretch>
        </p:blipFill>
        <p:spPr>
          <a:xfrm>
            <a:off x="10888423" y="244545"/>
            <a:ext cx="857010" cy="1190123"/>
          </a:xfrm>
          <a:prstGeom prst="rect">
            <a:avLst/>
          </a:prstGeom>
        </p:spPr>
      </p:pic>
      <p:sp>
        <p:nvSpPr>
          <p:cNvPr id="10" name="TextBox 9">
            <a:extLst>
              <a:ext uri="{FF2B5EF4-FFF2-40B4-BE49-F238E27FC236}">
                <a16:creationId xmlns:a16="http://schemas.microsoft.com/office/drawing/2014/main" id="{3CB9DBF1-7D8E-83D1-1408-08F934747C1D}"/>
              </a:ext>
            </a:extLst>
          </p:cNvPr>
          <p:cNvSpPr txBox="1"/>
          <p:nvPr/>
        </p:nvSpPr>
        <p:spPr>
          <a:xfrm>
            <a:off x="446567" y="981045"/>
            <a:ext cx="10302959" cy="1015663"/>
          </a:xfrm>
          <a:prstGeom prst="rect">
            <a:avLst/>
          </a:prstGeom>
          <a:noFill/>
        </p:spPr>
        <p:txBody>
          <a:bodyPr wrap="square" rtlCol="0">
            <a:spAutoFit/>
          </a:bodyPr>
          <a:lstStyle/>
          <a:p>
            <a:r>
              <a:rPr lang="en-CA" sz="1200" b="0" i="0" u="none" strike="noStrike" dirty="0">
                <a:effectLst/>
                <a:latin typeface="Calibri" panose="020F0502020204030204" pitchFamily="34" charset="0"/>
                <a:cs typeface="Calibri" panose="020F0502020204030204" pitchFamily="34" charset="0"/>
              </a:rPr>
              <a:t>Dr. Howard Ovens is an emergency physician and the Chief Medical Strategy Officer of Sinai Health, and Medical Advisor to Sinai Health Foundation. He is a Full Professor at the University of Toronto Dept. of Family and Community Medicine and a Senior Fellow in the Institute of Health Policy, Management and Evaluation. He is Medical Lead for the Ontario Health Provincial Emergency Services Program and a member of the Public Affairs Committee of the Canadian Association of Emergency Physicians. Dr. Ovens tweets about administration and public policy issues related to emergency services using the handle @HowardOvens. His blog “Waiting to be seen” is hosted on the Emergency Medicine Cases website. In 2025 he was invested into the Order of Ontario.</a:t>
            </a:r>
            <a:endParaRPr lang="en-CA" sz="12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310D2D66-DE19-356A-8D3E-28D2EE49A60F}"/>
              </a:ext>
            </a:extLst>
          </p:cNvPr>
          <p:cNvPicPr>
            <a:picLocks noChangeAspect="1"/>
          </p:cNvPicPr>
          <p:nvPr/>
        </p:nvPicPr>
        <p:blipFill>
          <a:blip r:embed="rId4"/>
          <a:stretch>
            <a:fillRect/>
          </a:stretch>
        </p:blipFill>
        <p:spPr>
          <a:xfrm>
            <a:off x="10888423" y="1633427"/>
            <a:ext cx="864174" cy="1098293"/>
          </a:xfrm>
          <a:prstGeom prst="rect">
            <a:avLst/>
          </a:prstGeom>
        </p:spPr>
      </p:pic>
      <p:pic>
        <p:nvPicPr>
          <p:cNvPr id="12" name="Picture 11">
            <a:extLst>
              <a:ext uri="{FF2B5EF4-FFF2-40B4-BE49-F238E27FC236}">
                <a16:creationId xmlns:a16="http://schemas.microsoft.com/office/drawing/2014/main" id="{88C12B9D-21D5-BC21-523A-7AEFEF5DC709}"/>
              </a:ext>
            </a:extLst>
          </p:cNvPr>
          <p:cNvPicPr>
            <a:picLocks noChangeAspect="1"/>
          </p:cNvPicPr>
          <p:nvPr/>
        </p:nvPicPr>
        <p:blipFill>
          <a:blip r:embed="rId5"/>
          <a:stretch>
            <a:fillRect/>
          </a:stretch>
        </p:blipFill>
        <p:spPr>
          <a:xfrm>
            <a:off x="3541605" y="2206816"/>
            <a:ext cx="998492" cy="1242192"/>
          </a:xfrm>
          <a:prstGeom prst="rect">
            <a:avLst/>
          </a:prstGeom>
        </p:spPr>
      </p:pic>
      <p:sp>
        <p:nvSpPr>
          <p:cNvPr id="13" name="TextBox 12">
            <a:extLst>
              <a:ext uri="{FF2B5EF4-FFF2-40B4-BE49-F238E27FC236}">
                <a16:creationId xmlns:a16="http://schemas.microsoft.com/office/drawing/2014/main" id="{B1245493-DBF6-1853-A3D9-5F45F877E46B}"/>
              </a:ext>
            </a:extLst>
          </p:cNvPr>
          <p:cNvSpPr txBox="1"/>
          <p:nvPr/>
        </p:nvSpPr>
        <p:spPr>
          <a:xfrm>
            <a:off x="4737461" y="2275821"/>
            <a:ext cx="6081513" cy="1200329"/>
          </a:xfrm>
          <a:prstGeom prst="rect">
            <a:avLst/>
          </a:prstGeom>
          <a:noFill/>
        </p:spPr>
        <p:txBody>
          <a:bodyPr wrap="square" rtlCol="0">
            <a:spAutoFit/>
          </a:bodyPr>
          <a:lstStyle/>
          <a:p>
            <a:r>
              <a:rPr lang="en-CA" sz="1200" b="0" i="0" u="none" strike="noStrike" dirty="0">
                <a:effectLst/>
                <a:latin typeface="Calibri" panose="020F0502020204030204" pitchFamily="34" charset="0"/>
                <a:cs typeface="Calibri" panose="020F0502020204030204" pitchFamily="34" charset="0"/>
              </a:rPr>
              <a:t>Emma  Helman is a medical student at Schulich School of Medicine. She has an undergraduate degree at McGill University and is currently pursuing a Master’s in Population Health Sciences at the University of Cambridge, where her work focuses on system and practice improvements in community palliative care. She is passionate about health policy advocacy aimed at improving system level access and quality of care. Her goal is to participate right care, right time policy development.</a:t>
            </a:r>
            <a:endParaRPr lang="en-CA" sz="1200" dirty="0">
              <a:latin typeface="Calibri" panose="020F0502020204030204" pitchFamily="34" charset="0"/>
              <a:cs typeface="Calibri" panose="020F0502020204030204" pitchFamily="34" charset="0"/>
            </a:endParaRPr>
          </a:p>
        </p:txBody>
      </p:sp>
      <p:pic>
        <p:nvPicPr>
          <p:cNvPr id="19" name="Picture 18">
            <a:extLst>
              <a:ext uri="{FF2B5EF4-FFF2-40B4-BE49-F238E27FC236}">
                <a16:creationId xmlns:a16="http://schemas.microsoft.com/office/drawing/2014/main" id="{FD587963-BBF6-CB40-F0B6-F8E568B4EFBC}"/>
              </a:ext>
            </a:extLst>
          </p:cNvPr>
          <p:cNvPicPr>
            <a:picLocks noChangeAspect="1"/>
          </p:cNvPicPr>
          <p:nvPr/>
        </p:nvPicPr>
        <p:blipFill>
          <a:blip r:embed="rId6"/>
          <a:stretch>
            <a:fillRect/>
          </a:stretch>
        </p:blipFill>
        <p:spPr>
          <a:xfrm>
            <a:off x="10925122" y="5422605"/>
            <a:ext cx="874369" cy="1098293"/>
          </a:xfrm>
          <a:prstGeom prst="rect">
            <a:avLst/>
          </a:prstGeom>
        </p:spPr>
      </p:pic>
      <p:sp>
        <p:nvSpPr>
          <p:cNvPr id="22" name="TextBox 21">
            <a:extLst>
              <a:ext uri="{FF2B5EF4-FFF2-40B4-BE49-F238E27FC236}">
                <a16:creationId xmlns:a16="http://schemas.microsoft.com/office/drawing/2014/main" id="{6BBF392B-93D7-14B8-3FE6-D3BA6A66C3BD}"/>
              </a:ext>
            </a:extLst>
          </p:cNvPr>
          <p:cNvSpPr txBox="1"/>
          <p:nvPr/>
        </p:nvSpPr>
        <p:spPr>
          <a:xfrm>
            <a:off x="467822" y="4890977"/>
            <a:ext cx="10302959" cy="646331"/>
          </a:xfrm>
          <a:prstGeom prst="rect">
            <a:avLst/>
          </a:prstGeom>
          <a:noFill/>
        </p:spPr>
        <p:txBody>
          <a:bodyPr wrap="square" rtlCol="0">
            <a:spAutoFit/>
          </a:bodyPr>
          <a:lstStyle/>
          <a:p>
            <a:pPr>
              <a:buNone/>
            </a:pPr>
            <a:r>
              <a:rPr lang="en-CA" sz="1200" b="0" i="0" u="none" strike="noStrike" dirty="0">
                <a:effectLst/>
                <a:latin typeface="Calibri" panose="020F0502020204030204" pitchFamily="34" charset="0"/>
                <a:cs typeface="Calibri" panose="020F0502020204030204" pitchFamily="34" charset="0"/>
              </a:rPr>
              <a:t>Dr. Alecs </a:t>
            </a:r>
            <a:r>
              <a:rPr lang="en-CA" sz="1200" b="0" i="0" u="none" strike="noStrike" dirty="0" err="1">
                <a:effectLst/>
                <a:latin typeface="Calibri" panose="020F0502020204030204" pitchFamily="34" charset="0"/>
                <a:cs typeface="Calibri" panose="020F0502020204030204" pitchFamily="34" charset="0"/>
              </a:rPr>
              <a:t>Chochinov</a:t>
            </a:r>
            <a:r>
              <a:rPr lang="en-CA" sz="1200" b="0" i="0" u="none" strike="noStrike" dirty="0">
                <a:effectLst/>
                <a:latin typeface="Calibri" panose="020F0502020204030204" pitchFamily="34" charset="0"/>
                <a:cs typeface="Calibri" panose="020F0502020204030204" pitchFamily="34" charset="0"/>
              </a:rPr>
              <a:t> is a professor of emergency medicine at the University of Manitoba. He is a past president of the Canadian Association of Emergency Physicians (CAEP) and </a:t>
            </a:r>
            <a:r>
              <a:rPr lang="en-CA" sz="1200" b="0" i="0" u="none" strike="noStrike" dirty="0" err="1">
                <a:effectLst/>
                <a:latin typeface="Calibri" panose="020F0502020204030204" pitchFamily="34" charset="0"/>
                <a:cs typeface="Calibri" panose="020F0502020204030204" pitchFamily="34" charset="0"/>
              </a:rPr>
              <a:t>previousl</a:t>
            </a:r>
            <a:r>
              <a:rPr lang="en-CA" sz="1200" b="0" i="0" u="none" strike="noStrike" dirty="0">
                <a:effectLst/>
                <a:latin typeface="Calibri" panose="020F0502020204030204" pitchFamily="34" charset="0"/>
                <a:cs typeface="Calibri" panose="020F0502020204030204" pitchFamily="34" charset="0"/>
              </a:rPr>
              <a:t> department head and specialty lead for Emergency Medicine in Manitoba. He was senior author of CAEP’s EM:POWER report on the future of emergency medicine and has an ongoing interest in health policy and system redesign.</a:t>
            </a:r>
            <a:endParaRPr lang="en-CA" sz="1200" dirty="0">
              <a:latin typeface="Calibri" panose="020F0502020204030204" pitchFamily="34" charset="0"/>
              <a:cs typeface="Calibri" panose="020F0502020204030204" pitchFamily="34" charset="0"/>
            </a:endParaRPr>
          </a:p>
        </p:txBody>
      </p:sp>
      <p:pic>
        <p:nvPicPr>
          <p:cNvPr id="23" name="Picture 22">
            <a:extLst>
              <a:ext uri="{FF2B5EF4-FFF2-40B4-BE49-F238E27FC236}">
                <a16:creationId xmlns:a16="http://schemas.microsoft.com/office/drawing/2014/main" id="{81C8F12B-572F-6A47-6DA8-54E2C767C9F3}"/>
              </a:ext>
            </a:extLst>
          </p:cNvPr>
          <p:cNvPicPr>
            <a:picLocks noChangeAspect="1"/>
          </p:cNvPicPr>
          <p:nvPr/>
        </p:nvPicPr>
        <p:blipFill>
          <a:blip r:embed="rId7"/>
          <a:stretch>
            <a:fillRect/>
          </a:stretch>
        </p:blipFill>
        <p:spPr>
          <a:xfrm>
            <a:off x="10925122" y="4158203"/>
            <a:ext cx="850088" cy="1190123"/>
          </a:xfrm>
          <a:prstGeom prst="rect">
            <a:avLst/>
          </a:prstGeom>
        </p:spPr>
      </p:pic>
      <p:sp>
        <p:nvSpPr>
          <p:cNvPr id="24" name="TextBox 23">
            <a:extLst>
              <a:ext uri="{FF2B5EF4-FFF2-40B4-BE49-F238E27FC236}">
                <a16:creationId xmlns:a16="http://schemas.microsoft.com/office/drawing/2014/main" id="{B957248F-4A41-C585-0E87-3FA5E6BFD81B}"/>
              </a:ext>
            </a:extLst>
          </p:cNvPr>
          <p:cNvSpPr txBox="1"/>
          <p:nvPr/>
        </p:nvSpPr>
        <p:spPr>
          <a:xfrm>
            <a:off x="446567" y="5846435"/>
            <a:ext cx="10133152" cy="646331"/>
          </a:xfrm>
          <a:prstGeom prst="rect">
            <a:avLst/>
          </a:prstGeom>
          <a:noFill/>
        </p:spPr>
        <p:txBody>
          <a:bodyPr wrap="square" rtlCol="0">
            <a:spAutoFit/>
          </a:bodyPr>
          <a:lstStyle/>
          <a:p>
            <a:r>
              <a:rPr lang="en-CA" sz="1200" b="0" i="0" u="none" strike="noStrike" dirty="0">
                <a:effectLst/>
                <a:latin typeface="Calibri" panose="020F0502020204030204" pitchFamily="34" charset="0"/>
                <a:cs typeface="Calibri" panose="020F0502020204030204" pitchFamily="34" charset="0"/>
              </a:rPr>
              <a:t>Lynn Garrow has been the Executive Director of The Canadian Association of Emergency Physicians for the last 10 years. Before that, she held many senior executive roles in the Federal Public Service, including Executive Director of the Correctional Service of Canada, CEO of CORCAN and Assistant Commissioner of Performance Assurance.  Lynn holds an undergraduate degree in Criminology and a Masters of Business Management from Northwestern University.</a:t>
            </a:r>
            <a:endParaRPr lang="en-CA" sz="12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BD030BF3-D72F-EACE-619F-C21DC3C5DCCF}"/>
              </a:ext>
            </a:extLst>
          </p:cNvPr>
          <p:cNvSpPr txBox="1"/>
          <p:nvPr/>
        </p:nvSpPr>
        <p:spPr>
          <a:xfrm>
            <a:off x="3551559" y="3659116"/>
            <a:ext cx="7219222" cy="830997"/>
          </a:xfrm>
          <a:prstGeom prst="rect">
            <a:avLst/>
          </a:prstGeom>
          <a:noFill/>
        </p:spPr>
        <p:txBody>
          <a:bodyPr wrap="square" rtlCol="0">
            <a:spAutoFit/>
          </a:bodyPr>
          <a:lstStyle/>
          <a:p>
            <a:r>
              <a:rPr kumimoji="0" lang="en-CA" sz="1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Sherry Stackhouse is a career emergency nurse,  da </a:t>
            </a:r>
            <a:r>
              <a:rPr kumimoji="0" lang="en-CA" sz="12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da</a:t>
            </a:r>
            <a:r>
              <a:rPr kumimoji="0" lang="en-CA" sz="1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CA" sz="12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da</a:t>
            </a:r>
            <a:r>
              <a:rPr kumimoji="0" lang="en-CA" sz="1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CA" sz="12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da</a:t>
            </a:r>
            <a:r>
              <a:rPr kumimoji="0" lang="en-CA" sz="1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 . . </a:t>
            </a:r>
            <a:r>
              <a:rPr kumimoji="0" lang="en-CA" sz="1200" b="0" i="0" u="none" strike="dbl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emergency medicine at the University of Manitoba. He is a past president of the Canadian Association of Emergency Physicians (CAEP) and </a:t>
            </a:r>
            <a:r>
              <a:rPr kumimoji="0" lang="en-CA" sz="1200" b="0" i="0" u="none" strike="dblStrike" kern="1200" cap="none" spc="0" normalizeH="0" noProof="0" dirty="0" err="1">
                <a:ln>
                  <a:noFill/>
                </a:ln>
                <a:solidFill>
                  <a:prstClr val="white"/>
                </a:solidFill>
                <a:effectLst/>
                <a:uLnTx/>
                <a:uFillTx/>
                <a:latin typeface="Calibri" panose="020F0502020204030204" pitchFamily="34" charset="0"/>
                <a:ea typeface="+mn-ea"/>
                <a:cs typeface="Calibri" panose="020F0502020204030204" pitchFamily="34" charset="0"/>
              </a:rPr>
              <a:t>previousl</a:t>
            </a:r>
            <a:r>
              <a:rPr kumimoji="0" lang="en-CA" sz="1200" b="0" i="0" u="none" strike="dbl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department head and specialty lead for Emergency Medicine in Manitoba. He was senior author of CAEP’s EM:POWER report on the future of emergency medicine and has an ongoing interest in health</a:t>
            </a:r>
            <a:endParaRPr lang="en-CA" strike="dblStrike" dirty="0"/>
          </a:p>
        </p:txBody>
      </p:sp>
      <p:sp>
        <p:nvSpPr>
          <p:cNvPr id="26" name="Rectangle 25">
            <a:extLst>
              <a:ext uri="{FF2B5EF4-FFF2-40B4-BE49-F238E27FC236}">
                <a16:creationId xmlns:a16="http://schemas.microsoft.com/office/drawing/2014/main" id="{681393CA-BBE8-0CA6-E1E2-44CBC1F95AF6}"/>
              </a:ext>
            </a:extLst>
          </p:cNvPr>
          <p:cNvSpPr/>
          <p:nvPr/>
        </p:nvSpPr>
        <p:spPr>
          <a:xfrm>
            <a:off x="10888423" y="2875985"/>
            <a:ext cx="911068" cy="10982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219399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098CA-9E38-344B-3133-5A88136E153F}"/>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9AA7E785-7D7A-14CC-85C3-CC249F2453FD}"/>
              </a:ext>
            </a:extLst>
          </p:cNvPr>
          <p:cNvPicPr>
            <a:picLocks noChangeAspect="1"/>
          </p:cNvPicPr>
          <p:nvPr/>
        </p:nvPicPr>
        <p:blipFill>
          <a:blip r:embed="rId2"/>
          <a:stretch>
            <a:fillRect/>
          </a:stretch>
        </p:blipFill>
        <p:spPr>
          <a:xfrm>
            <a:off x="0" y="6822"/>
            <a:ext cx="12192000" cy="1736918"/>
          </a:xfrm>
          <a:prstGeom prst="rect">
            <a:avLst/>
          </a:prstGeom>
        </p:spPr>
      </p:pic>
      <p:sp>
        <p:nvSpPr>
          <p:cNvPr id="4" name="TextBox 3">
            <a:extLst>
              <a:ext uri="{FF2B5EF4-FFF2-40B4-BE49-F238E27FC236}">
                <a16:creationId xmlns:a16="http://schemas.microsoft.com/office/drawing/2014/main" id="{463B2525-D672-CD89-252C-667F3F7B1914}"/>
              </a:ext>
            </a:extLst>
          </p:cNvPr>
          <p:cNvSpPr txBox="1"/>
          <p:nvPr/>
        </p:nvSpPr>
        <p:spPr>
          <a:xfrm>
            <a:off x="299830" y="398316"/>
            <a:ext cx="3612943" cy="1009586"/>
          </a:xfrm>
          <a:prstGeom prst="ellipse">
            <a:avLst/>
          </a:prstGeom>
          <a:solidFill>
            <a:srgbClr val="262626"/>
          </a:solidFill>
          <a:ln w="174625" cmpd="thinThick">
            <a:solidFill>
              <a:srgbClr val="262626"/>
            </a:solidFill>
          </a:ln>
        </p:spPr>
        <p:txBody>
          <a:bodyPr vert="horz" lIns="91440" tIns="45720" rIns="91440" bIns="45720" rtlCol="0" anchor="ctr">
            <a:normAutofit fontScale="92500" lnSpcReduction="10000"/>
          </a:bodyPr>
          <a:lstStyle/>
          <a:p>
            <a:pPr algn="ctr">
              <a:lnSpc>
                <a:spcPct val="90000"/>
              </a:lnSpc>
              <a:spcBef>
                <a:spcPct val="0"/>
              </a:spcBef>
              <a:spcAft>
                <a:spcPts val="600"/>
              </a:spcAft>
            </a:pPr>
            <a:r>
              <a:rPr lang="en-US" sz="2600" b="1" kern="1200" dirty="0">
                <a:solidFill>
                  <a:srgbClr val="FFFFFF"/>
                </a:solidFill>
                <a:latin typeface="+mj-lt"/>
                <a:ea typeface="+mj-ea"/>
                <a:cs typeface="+mj-cs"/>
              </a:rPr>
              <a:t>Accountability Frameworks</a:t>
            </a:r>
          </a:p>
        </p:txBody>
      </p:sp>
      <p:sp>
        <p:nvSpPr>
          <p:cNvPr id="8" name="TextBox 7">
            <a:extLst>
              <a:ext uri="{FF2B5EF4-FFF2-40B4-BE49-F238E27FC236}">
                <a16:creationId xmlns:a16="http://schemas.microsoft.com/office/drawing/2014/main" id="{60F550DE-148A-C92A-D211-76ADAAF8F867}"/>
              </a:ext>
            </a:extLst>
          </p:cNvPr>
          <p:cNvSpPr txBox="1"/>
          <p:nvPr/>
        </p:nvSpPr>
        <p:spPr>
          <a:xfrm>
            <a:off x="4085014" y="222183"/>
            <a:ext cx="1231266" cy="646331"/>
          </a:xfrm>
          <a:prstGeom prst="rect">
            <a:avLst/>
          </a:prstGeom>
          <a:solidFill>
            <a:schemeClr val="accent2"/>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Executive Summary</a:t>
            </a:r>
          </a:p>
        </p:txBody>
      </p:sp>
      <p:sp>
        <p:nvSpPr>
          <p:cNvPr id="20" name="TextBox 19">
            <a:extLst>
              <a:ext uri="{FF2B5EF4-FFF2-40B4-BE49-F238E27FC236}">
                <a16:creationId xmlns:a16="http://schemas.microsoft.com/office/drawing/2014/main" id="{6997F39A-EFE1-23B5-399F-AB2C23AAAE41}"/>
              </a:ext>
            </a:extLst>
          </p:cNvPr>
          <p:cNvSpPr txBox="1"/>
          <p:nvPr/>
        </p:nvSpPr>
        <p:spPr>
          <a:xfrm>
            <a:off x="5651217" y="222183"/>
            <a:ext cx="2837108" cy="646331"/>
          </a:xfrm>
          <a:prstGeom prst="rect">
            <a:avLst/>
          </a:prstGeom>
          <a:solidFill>
            <a:schemeClr val="accent2"/>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Accountability Framework Overview</a:t>
            </a:r>
          </a:p>
        </p:txBody>
      </p:sp>
      <p:sp>
        <p:nvSpPr>
          <p:cNvPr id="24" name="TextBox 23">
            <a:extLst>
              <a:ext uri="{FF2B5EF4-FFF2-40B4-BE49-F238E27FC236}">
                <a16:creationId xmlns:a16="http://schemas.microsoft.com/office/drawing/2014/main" id="{B6DD17A4-FEC4-92DE-D5BE-06BCB3E115E2}"/>
              </a:ext>
            </a:extLst>
          </p:cNvPr>
          <p:cNvSpPr txBox="1"/>
          <p:nvPr/>
        </p:nvSpPr>
        <p:spPr>
          <a:xfrm>
            <a:off x="5510855" y="3319917"/>
            <a:ext cx="2523460" cy="523220"/>
          </a:xfrm>
          <a:prstGeom prst="rect">
            <a:avLst/>
          </a:prstGeom>
          <a:solidFill>
            <a:schemeClr val="accent2"/>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entury Gothic" panose="020B0502020202020204"/>
                <a:ea typeface="+mn-ea"/>
                <a:cs typeface="+mn-cs"/>
              </a:rPr>
              <a:t>Hospital Accountability Frameworks</a:t>
            </a:r>
          </a:p>
        </p:txBody>
      </p:sp>
      <p:sp>
        <p:nvSpPr>
          <p:cNvPr id="26" name="TextBox 25">
            <a:extLst>
              <a:ext uri="{FF2B5EF4-FFF2-40B4-BE49-F238E27FC236}">
                <a16:creationId xmlns:a16="http://schemas.microsoft.com/office/drawing/2014/main" id="{E9EDC409-AD7C-B541-DD7F-D23A563DE2FE}"/>
              </a:ext>
            </a:extLst>
          </p:cNvPr>
          <p:cNvSpPr txBox="1"/>
          <p:nvPr/>
        </p:nvSpPr>
        <p:spPr>
          <a:xfrm>
            <a:off x="5964865" y="4538434"/>
            <a:ext cx="2523460" cy="523220"/>
          </a:xfrm>
          <a:prstGeom prst="rect">
            <a:avLst/>
          </a:prstGeom>
          <a:solidFill>
            <a:schemeClr val="accent2"/>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entury Gothic" panose="020B0502020202020204"/>
                <a:ea typeface="+mn-ea"/>
                <a:cs typeface="+mn-cs"/>
              </a:rPr>
              <a:t>System Accountability Frameworks</a:t>
            </a:r>
          </a:p>
        </p:txBody>
      </p:sp>
      <p:sp>
        <p:nvSpPr>
          <p:cNvPr id="28" name="TextBox 27">
            <a:extLst>
              <a:ext uri="{FF2B5EF4-FFF2-40B4-BE49-F238E27FC236}">
                <a16:creationId xmlns:a16="http://schemas.microsoft.com/office/drawing/2014/main" id="{857A1641-A6D7-C6A0-F688-01E74B90D09D}"/>
              </a:ext>
            </a:extLst>
          </p:cNvPr>
          <p:cNvSpPr txBox="1"/>
          <p:nvPr/>
        </p:nvSpPr>
        <p:spPr>
          <a:xfrm>
            <a:off x="6528745" y="5754151"/>
            <a:ext cx="2523460" cy="523220"/>
          </a:xfrm>
          <a:prstGeom prst="rect">
            <a:avLst/>
          </a:prstGeom>
          <a:solidFill>
            <a:schemeClr val="accent2"/>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entury Gothic" panose="020B0502020202020204"/>
                <a:ea typeface="+mn-ea"/>
                <a:cs typeface="+mn-cs"/>
              </a:rPr>
              <a:t>How to Implement an Accountability Framework</a:t>
            </a:r>
            <a:endParaRPr kumimoji="0" lang="en-CA" sz="14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381345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A8E75-3E17-E14C-D664-5B718CB20C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24A8992-BF9E-B93D-E94A-14AF7FBCDAC8}"/>
              </a:ext>
            </a:extLst>
          </p:cNvPr>
          <p:cNvSpPr txBox="1"/>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lnSpc>
                <a:spcPct val="90000"/>
              </a:lnSpc>
              <a:spcBef>
                <a:spcPct val="0"/>
              </a:spcBef>
              <a:spcAft>
                <a:spcPts val="600"/>
              </a:spcAft>
            </a:pPr>
            <a:r>
              <a:rPr lang="en-US" sz="2600" b="1" kern="1200">
                <a:solidFill>
                  <a:srgbClr val="FFFFFF"/>
                </a:solidFill>
                <a:latin typeface="+mj-lt"/>
                <a:ea typeface="+mj-ea"/>
                <a:cs typeface="+mj-cs"/>
              </a:rPr>
              <a:t>Who Are We (the Board)</a:t>
            </a:r>
          </a:p>
        </p:txBody>
      </p:sp>
      <p:sp>
        <p:nvSpPr>
          <p:cNvPr id="2" name="TextBox 1">
            <a:extLst>
              <a:ext uri="{FF2B5EF4-FFF2-40B4-BE49-F238E27FC236}">
                <a16:creationId xmlns:a16="http://schemas.microsoft.com/office/drawing/2014/main" id="{4FC5229B-5C71-7AF1-514C-8E4C9DF537D6}"/>
              </a:ext>
            </a:extLst>
          </p:cNvPr>
          <p:cNvSpPr txBox="1"/>
          <p:nvPr/>
        </p:nvSpPr>
        <p:spPr>
          <a:xfrm>
            <a:off x="4177295" y="868351"/>
            <a:ext cx="4032570" cy="369332"/>
          </a:xfrm>
          <a:prstGeom prst="rect">
            <a:avLst/>
          </a:prstGeom>
          <a:noFill/>
        </p:spPr>
        <p:txBody>
          <a:bodyPr wrap="square" rtlCol="0">
            <a:spAutoFit/>
          </a:bodyPr>
          <a:lstStyle/>
          <a:p>
            <a:r>
              <a:rPr lang="en-US" dirty="0"/>
              <a:t>Other board members and pictures</a:t>
            </a:r>
            <a:endParaRPr lang="en-CA" dirty="0"/>
          </a:p>
        </p:txBody>
      </p:sp>
    </p:spTree>
    <p:extLst>
      <p:ext uri="{BB962C8B-B14F-4D97-AF65-F5344CB8AC3E}">
        <p14:creationId xmlns:p14="http://schemas.microsoft.com/office/powerpoint/2010/main" val="118102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5A5CA-ECB6-5079-D993-1F225D17E2F7}"/>
              </a:ext>
            </a:extLst>
          </p:cNvPr>
          <p:cNvSpPr>
            <a:spLocks noGrp="1"/>
          </p:cNvSpPr>
          <p:nvPr>
            <p:ph type="title"/>
          </p:nvPr>
        </p:nvSpPr>
        <p:spPr>
          <a:xfrm>
            <a:off x="838200" y="226979"/>
            <a:ext cx="10515600" cy="805833"/>
          </a:xfrm>
        </p:spPr>
        <p:txBody>
          <a:bodyPr/>
          <a:lstStyle/>
          <a:p>
            <a:pPr algn="ctr"/>
            <a:r>
              <a:rPr lang="en-US" b="1" dirty="0"/>
              <a:t>Our Mission</a:t>
            </a:r>
            <a:endParaRPr lang="en-CA" b="1" dirty="0"/>
          </a:p>
        </p:txBody>
      </p:sp>
      <p:sp>
        <p:nvSpPr>
          <p:cNvPr id="3" name="Content Placeholder 2">
            <a:extLst>
              <a:ext uri="{FF2B5EF4-FFF2-40B4-BE49-F238E27FC236}">
                <a16:creationId xmlns:a16="http://schemas.microsoft.com/office/drawing/2014/main" id="{3BA697E0-365C-5B5E-BC51-E175C053C365}"/>
              </a:ext>
            </a:extLst>
          </p:cNvPr>
          <p:cNvSpPr>
            <a:spLocks noGrp="1"/>
          </p:cNvSpPr>
          <p:nvPr>
            <p:ph idx="1"/>
          </p:nvPr>
        </p:nvSpPr>
        <p:spPr>
          <a:xfrm>
            <a:off x="838200" y="1032812"/>
            <a:ext cx="10515600" cy="5006005"/>
          </a:xfrm>
        </p:spPr>
        <p:txBody>
          <a:bodyPr>
            <a:noAutofit/>
          </a:bodyPr>
          <a:lstStyle/>
          <a:p>
            <a:pPr marL="0" indent="0">
              <a:buNone/>
            </a:pPr>
            <a:r>
              <a:rPr lang="en-CA" sz="2000" b="1" dirty="0"/>
              <a:t>Mission: T</a:t>
            </a:r>
            <a:r>
              <a:rPr lang="en-CA" sz="2000" dirty="0"/>
              <a:t>o support the development and implementation of health system innovations that improve patient access to appropriate (right care, right place) care in emergency departments, hospitals or communities. To be recognized as a system improvement catalyst, policy advocate, and trusted information source for health leaders. </a:t>
            </a:r>
            <a:endParaRPr lang="en-CA" sz="2000" b="0" dirty="0">
              <a:effectLst/>
            </a:endParaRPr>
          </a:p>
          <a:p>
            <a:pPr marL="0" indent="0">
              <a:buNone/>
            </a:pPr>
            <a:br>
              <a:rPr lang="en-CA" sz="2000" dirty="0"/>
            </a:br>
            <a:r>
              <a:rPr lang="en-CA" sz="2000" b="1" dirty="0"/>
              <a:t>Objective: </a:t>
            </a:r>
            <a:r>
              <a:rPr lang="en-CA" sz="2000" dirty="0"/>
              <a:t>The purpose of the </a:t>
            </a:r>
            <a:r>
              <a:rPr lang="en-CA" sz="2000" i="1" dirty="0"/>
              <a:t>No Patient Left Behind</a:t>
            </a:r>
            <a:r>
              <a:rPr lang="en-CA" sz="2000" dirty="0"/>
              <a:t> </a:t>
            </a:r>
            <a:r>
              <a:rPr lang="en-CA" sz="2000" i="1" dirty="0"/>
              <a:t>fund </a:t>
            </a:r>
            <a:r>
              <a:rPr lang="en-CA" sz="2000" dirty="0"/>
              <a:t>is to provide annual peer-reviewed funding awards to develop and implement promising access-related health system innovations, particularly those that incorporate concepts of patient care accountability or accountability framework implementations. High priority grant proposals could fall into several categories (see </a:t>
            </a:r>
            <a:r>
              <a:rPr lang="en-CA" sz="2000" i="1" dirty="0"/>
              <a:t>Funding priority areas</a:t>
            </a:r>
            <a:r>
              <a:rPr lang="en-CA" sz="2000" dirty="0"/>
              <a:t>).</a:t>
            </a:r>
            <a:br>
              <a:rPr lang="en-CA" sz="2000" b="0" dirty="0">
                <a:effectLst/>
              </a:rPr>
            </a:br>
            <a:endParaRPr lang="en-CA" sz="2000" b="0" dirty="0">
              <a:effectLst/>
            </a:endParaRPr>
          </a:p>
          <a:p>
            <a:pPr marL="0" indent="0">
              <a:buNone/>
            </a:pPr>
            <a:r>
              <a:rPr lang="en-CA" sz="2000" b="1" dirty="0"/>
              <a:t>Funding:</a:t>
            </a:r>
            <a:r>
              <a:rPr lang="en-CA" sz="2000" dirty="0"/>
              <a:t> Funding would arise through the </a:t>
            </a:r>
            <a:r>
              <a:rPr lang="en-CA" sz="2000" i="1" dirty="0"/>
              <a:t>No patient left behind</a:t>
            </a:r>
            <a:r>
              <a:rPr lang="en-CA" sz="2000" dirty="0"/>
              <a:t> endowment fund. The fund will award annual system improvement grants that are divisible based on the quality and potential impact of the applications (as determined by the board or a grant review committee). Successful grants would be awarded at the Canadian Association of Emergency Physicians (CAEP) annual conference; they would acknowledge the SREMI/CAEP/“No Patient Left Behind” collaboration and specifically name the Grant Innes “No Patient Left Behind” fund and its mission. Growing awareness of the fund through CAEP, SREMI, the oversight committee, and a “No Patient Left Behind” giving campaign will hopefully lead to ongoing donations from the community. </a:t>
            </a:r>
            <a:endParaRPr lang="en-CA" sz="2000" b="0" dirty="0">
              <a:effectLst/>
            </a:endParaRPr>
          </a:p>
          <a:p>
            <a:pPr marL="0" indent="0">
              <a:buNone/>
            </a:pPr>
            <a:br>
              <a:rPr lang="en-CA" sz="2000" b="0" dirty="0">
                <a:effectLst/>
              </a:rPr>
            </a:br>
            <a:endParaRPr lang="en-CA" sz="2000" dirty="0"/>
          </a:p>
        </p:txBody>
      </p:sp>
      <p:sp>
        <p:nvSpPr>
          <p:cNvPr id="7" name="TextBox 6">
            <a:extLst>
              <a:ext uri="{FF2B5EF4-FFF2-40B4-BE49-F238E27FC236}">
                <a16:creationId xmlns:a16="http://schemas.microsoft.com/office/drawing/2014/main" id="{E0878B2E-BDB9-9E16-5F91-49972FE75ABB}"/>
              </a:ext>
            </a:extLst>
          </p:cNvPr>
          <p:cNvSpPr txBox="1"/>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lnSpc>
                <a:spcPct val="90000"/>
              </a:lnSpc>
              <a:spcBef>
                <a:spcPct val="0"/>
              </a:spcBef>
              <a:spcAft>
                <a:spcPts val="600"/>
              </a:spcAft>
            </a:pPr>
            <a:r>
              <a:rPr lang="en-US" sz="2600" b="1" kern="1200" dirty="0">
                <a:solidFill>
                  <a:srgbClr val="FFFFFF"/>
                </a:solidFill>
                <a:latin typeface="+mj-lt"/>
                <a:ea typeface="+mj-ea"/>
                <a:cs typeface="+mj-cs"/>
              </a:rPr>
              <a:t>Who Are We (the Board)</a:t>
            </a:r>
          </a:p>
        </p:txBody>
      </p:sp>
    </p:spTree>
    <p:extLst>
      <p:ext uri="{BB962C8B-B14F-4D97-AF65-F5344CB8AC3E}">
        <p14:creationId xmlns:p14="http://schemas.microsoft.com/office/powerpoint/2010/main" val="1589493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E5197-694F-1D88-C1E6-0E8346D853E2}"/>
              </a:ext>
            </a:extLst>
          </p:cNvPr>
          <p:cNvSpPr>
            <a:spLocks noGrp="1"/>
          </p:cNvSpPr>
          <p:nvPr>
            <p:ph type="title"/>
          </p:nvPr>
        </p:nvSpPr>
        <p:spPr>
          <a:xfrm>
            <a:off x="838200" y="365126"/>
            <a:ext cx="10515600" cy="411127"/>
          </a:xfrm>
        </p:spPr>
        <p:txBody>
          <a:bodyPr>
            <a:noAutofit/>
          </a:bodyPr>
          <a:lstStyle/>
          <a:p>
            <a:pPr algn="ctr"/>
            <a:r>
              <a:rPr lang="en-CA" sz="2400" b="1" dirty="0"/>
              <a:t>Why do we need “</a:t>
            </a:r>
            <a:r>
              <a:rPr lang="en-CA" sz="2400" b="1" i="1" dirty="0"/>
              <a:t>No Patient Left Behind?”</a:t>
            </a:r>
            <a:endParaRPr lang="en-CA" sz="2400" b="1" dirty="0"/>
          </a:p>
        </p:txBody>
      </p:sp>
      <p:sp>
        <p:nvSpPr>
          <p:cNvPr id="3" name="Content Placeholder 2">
            <a:extLst>
              <a:ext uri="{FF2B5EF4-FFF2-40B4-BE49-F238E27FC236}">
                <a16:creationId xmlns:a16="http://schemas.microsoft.com/office/drawing/2014/main" id="{17578442-34AC-1994-A09E-D22D5DCB5E5E}"/>
              </a:ext>
            </a:extLst>
          </p:cNvPr>
          <p:cNvSpPr>
            <a:spLocks noGrp="1"/>
          </p:cNvSpPr>
          <p:nvPr>
            <p:ph idx="1"/>
          </p:nvPr>
        </p:nvSpPr>
        <p:spPr>
          <a:xfrm>
            <a:off x="546009" y="888086"/>
            <a:ext cx="11216201" cy="5288877"/>
          </a:xfrm>
        </p:spPr>
        <p:txBody>
          <a:bodyPr>
            <a:noAutofit/>
          </a:bodyPr>
          <a:lstStyle/>
          <a:p>
            <a:pPr marL="0" indent="0">
              <a:buNone/>
            </a:pPr>
            <a:r>
              <a:rPr lang="en-CA" sz="1100" dirty="0"/>
              <a:t>Canada ranks near the bottom among high-income countries for timely access to primary care, specialist care, hospital services, community care, and elective surgery. These access gaps create bottlenecks throughout the system, driving patients to emergency departments (EDs), which function as the system’s universal contingency plan and only open door. As a result, Canada has the highest ED utilization rate of all high-income countries. When patients receive care in the wrong setting or experience prolonged delays, outcomes worsen. Frail older adults awaiting community care often remain in acute-care hospital beds for weeks, causing cognitive decline, deconditioning and subsequent institutionalization. These “ALC patients” limit hospital capacity and delay inflow from the ED. As a result, admitted patients waiting for inpatient ward beds are held, often for days, in noisy ED stretchers with suboptimal care, poor sleep and limited bathroom access, factors that drive prolonged hospital lengths of stay (LOS). Inpatients accumulate in ED stretchers and prevent ED inflow, forcing seriously ill arrivals to waiting areas where they face long waits, untreated pain, clinical deterioration and, too often, disastrous outcome.</a:t>
            </a:r>
          </a:p>
          <a:p>
            <a:pPr marL="0" indent="0">
              <a:buNone/>
            </a:pPr>
            <a:r>
              <a:rPr lang="en-CA" sz="1100" b="1" dirty="0"/>
              <a:t>The causes</a:t>
            </a:r>
            <a:r>
              <a:rPr lang="en-CA" sz="1100" dirty="0"/>
              <a:t>: Canada faces real capacity challenges, including physician shortages, a relative paucity of hospital beds, and an aging population with increasing healthcare needs, but capacity is not the only concern. A fundamental issue is the lack of program accountability for patient access and system flow. While providers have a general understanding that they should try to reduce care delays, there is no expectation they will do so, nor consequences for failure. In the face of rising demand and growing care delays, programs might choose to initiate difficult system innovation but, in our system, it is also acceptable to continue usual processes and restrict access when it seems necessary. The latter approach is more intuitive, and </a:t>
            </a:r>
            <a:r>
              <a:rPr lang="en-CA" sz="1100" i="1" dirty="0"/>
              <a:t>management by closing doors </a:t>
            </a:r>
            <a:r>
              <a:rPr lang="en-CA" sz="1100" dirty="0"/>
              <a:t>delivers huge rewards. Workload is controlled, waiting patients out of sight and out of mind, staff stress relieved, and budgetary challenges mitigated. Care shortfalls become someone else’s problem and programs are protected from evolutionary stressors that would otherwise mandate change and innovation. </a:t>
            </a:r>
            <a:endParaRPr lang="en-CA" sz="1100" b="0" dirty="0">
              <a:effectLst/>
            </a:endParaRPr>
          </a:p>
          <a:p>
            <a:pPr marL="0" indent="0">
              <a:buNone/>
            </a:pPr>
            <a:r>
              <a:rPr lang="en-CA" sz="1100" b="1" dirty="0"/>
              <a:t>Solutions</a:t>
            </a:r>
            <a:r>
              <a:rPr lang="en-CA" sz="1100" dirty="0"/>
              <a:t>: This is system failure, not provider failure, and we have two main recommendations: operational improvement and accountability frameworks. Operations researchers suggest that process optimization can increase flow and throughput by 30-50%. In contrast, a large Canadian ED study found that even small 2-4% hospital flow enhancements would enable EDs to rapidly manage all high acuity patients and eliminate waiting room deteriorations. Innovation and process improvement will not assure the right care in the right place for all patients, but they will reduce wait times and eliminate most emergency access blocks. </a:t>
            </a:r>
            <a:endParaRPr lang="en-CA" sz="1100" b="0" dirty="0">
              <a:effectLst/>
            </a:endParaRPr>
          </a:p>
          <a:p>
            <a:pPr marL="0" indent="0">
              <a:buNone/>
            </a:pPr>
            <a:r>
              <a:rPr lang="en-CA" sz="1100" dirty="0"/>
              <a:t>Accountability frameworks are critical but oddly rare in healthcare. They specify accountability zones (which program is most responsible for which patients) and they define program expectations, including timely care access and the need for effective queue management and surge strategies. Without defined accountability zones and care expectations, an acceptable program response to care gaps is, “Sorry, we’re full” (i.e.</a:t>
            </a:r>
            <a:r>
              <a:rPr lang="en-CA" sz="1100" i="1" dirty="0"/>
              <a:t> join the queue</a:t>
            </a:r>
            <a:r>
              <a:rPr lang="en-CA" sz="1100" dirty="0"/>
              <a:t>). In an accountable system, program leaders would instead ask, “How can we change our systems if closing the door is not an option? </a:t>
            </a:r>
          </a:p>
          <a:p>
            <a:pPr marL="0" indent="0">
              <a:buNone/>
            </a:pPr>
            <a:r>
              <a:rPr lang="en-CA" sz="1100" dirty="0"/>
              <a:t>Most doctors, nurses and health agree with accountability as a concept. Unfortunately, they often believe accountability is impossible because of resource limitations, or too many ALC patients, or too many boarding inpatients. They often protest that they are already doing everything possible, and that “you can’t just push more patients into a full system!” </a:t>
            </a:r>
            <a:endParaRPr lang="en-CA" sz="1100" b="0" dirty="0">
              <a:effectLst/>
            </a:endParaRPr>
          </a:p>
          <a:p>
            <a:pPr marL="0" indent="0">
              <a:lnSpc>
                <a:spcPct val="120000"/>
              </a:lnSpc>
              <a:spcBef>
                <a:spcPts val="0"/>
              </a:spcBef>
              <a:buNone/>
            </a:pPr>
            <a:r>
              <a:rPr lang="en-CA" sz="1100" dirty="0"/>
              <a:t>Facing these perceived barriers, it is worth asking program leaders about: </a:t>
            </a:r>
            <a:endParaRPr lang="en-CA" sz="1100" b="0" dirty="0">
              <a:effectLst/>
            </a:endParaRPr>
          </a:p>
          <a:p>
            <a:pPr marL="0" indent="0">
              <a:lnSpc>
                <a:spcPct val="120000"/>
              </a:lnSpc>
              <a:spcBef>
                <a:spcPts val="0"/>
              </a:spcBef>
              <a:buNone/>
            </a:pPr>
            <a:r>
              <a:rPr lang="en-CA" sz="1100" dirty="0"/>
              <a:t>-Strategic planning: Is your team aware of your accountability zone (your queuing patients); </a:t>
            </a:r>
            <a:endParaRPr lang="en-CA" sz="1100" b="0" dirty="0">
              <a:effectLst/>
            </a:endParaRPr>
          </a:p>
          <a:p>
            <a:pPr marL="0" indent="0">
              <a:lnSpc>
                <a:spcPct val="120000"/>
              </a:lnSpc>
              <a:spcBef>
                <a:spcPts val="0"/>
              </a:spcBef>
              <a:buNone/>
            </a:pPr>
            <a:r>
              <a:rPr lang="en-CA" sz="1100" dirty="0"/>
              <a:t>-Innovation: Ask your teams, </a:t>
            </a:r>
            <a:r>
              <a:rPr lang="en-CA" sz="1100" i="1" dirty="0"/>
              <a:t>How would you change if closing the door was not an option</a:t>
            </a:r>
            <a:r>
              <a:rPr lang="en-CA" sz="1100" dirty="0"/>
              <a:t>? </a:t>
            </a:r>
            <a:endParaRPr lang="en-CA" sz="1100" b="0" dirty="0">
              <a:effectLst/>
            </a:endParaRPr>
          </a:p>
          <a:p>
            <a:pPr marL="0" indent="0">
              <a:lnSpc>
                <a:spcPct val="120000"/>
              </a:lnSpc>
              <a:spcBef>
                <a:spcPts val="0"/>
              </a:spcBef>
              <a:buNone/>
            </a:pPr>
            <a:r>
              <a:rPr lang="en-CA" sz="1100" dirty="0"/>
              <a:t>-Utilization: Yes you are full, but do all the patients need a hospital bed/ED stretcher? </a:t>
            </a:r>
          </a:p>
          <a:p>
            <a:pPr marL="0" indent="0">
              <a:lnSpc>
                <a:spcPct val="120000"/>
              </a:lnSpc>
              <a:spcBef>
                <a:spcPts val="0"/>
              </a:spcBef>
              <a:buNone/>
            </a:pPr>
            <a:r>
              <a:rPr lang="en-CA" sz="1100" dirty="0"/>
              <a:t>-Rationing: Are you prioritizing patients with greatest need, or are some of the sickest outside? </a:t>
            </a:r>
          </a:p>
          <a:p>
            <a:pPr marL="0" indent="0">
              <a:lnSpc>
                <a:spcPct val="120000"/>
              </a:lnSpc>
              <a:spcBef>
                <a:spcPts val="0"/>
              </a:spcBef>
              <a:buNone/>
            </a:pPr>
            <a:r>
              <a:rPr lang="en-CA" sz="1100" dirty="0"/>
              <a:t>-Operations/flow: Are you smoothing? fixing bottlenecks? admitting-discharging 7 days/week? </a:t>
            </a:r>
          </a:p>
          <a:p>
            <a:pPr marL="0" indent="0">
              <a:lnSpc>
                <a:spcPct val="120000"/>
              </a:lnSpc>
              <a:spcBef>
                <a:spcPts val="0"/>
              </a:spcBef>
              <a:buNone/>
            </a:pPr>
            <a:r>
              <a:rPr lang="en-CA" sz="1100" dirty="0"/>
              <a:t>-Do you have non-value added processes, redundant care, avoidable testing, consult delays? </a:t>
            </a:r>
          </a:p>
          <a:p>
            <a:pPr marL="0" indent="0">
              <a:lnSpc>
                <a:spcPct val="120000"/>
              </a:lnSpc>
              <a:spcBef>
                <a:spcPts val="0"/>
              </a:spcBef>
              <a:buNone/>
            </a:pPr>
            <a:r>
              <a:rPr lang="en-CA" sz="1100" dirty="0"/>
              <a:t>-Are you matching demand to capacity and reducing variability? </a:t>
            </a:r>
            <a:endParaRPr lang="en-CA" sz="1100" b="0" dirty="0">
              <a:effectLst/>
            </a:endParaRPr>
          </a:p>
          <a:p>
            <a:pPr marL="0" indent="0">
              <a:lnSpc>
                <a:spcPct val="120000"/>
              </a:lnSpc>
              <a:spcBef>
                <a:spcPts val="0"/>
              </a:spcBef>
              <a:buNone/>
            </a:pPr>
            <a:r>
              <a:rPr lang="en-CA" sz="1100" dirty="0"/>
              <a:t>-Do you have a demand-driven overcapacity plan? </a:t>
            </a:r>
            <a:endParaRPr lang="en-CA" sz="1100" b="0" dirty="0">
              <a:effectLst/>
            </a:endParaRPr>
          </a:p>
          <a:p>
            <a:pPr marL="0" indent="0">
              <a:lnSpc>
                <a:spcPct val="120000"/>
              </a:lnSpc>
              <a:spcBef>
                <a:spcPts val="0"/>
              </a:spcBef>
              <a:buNone/>
            </a:pPr>
            <a:r>
              <a:rPr lang="en-CA" sz="1100" dirty="0"/>
              <a:t>-Could you explore new staffing models and expanded scopes to increase care capacity? </a:t>
            </a:r>
            <a:endParaRPr lang="en-CA" sz="1100" b="0" dirty="0">
              <a:effectLst/>
            </a:endParaRPr>
          </a:p>
          <a:p>
            <a:pPr marL="0" indent="0">
              <a:lnSpc>
                <a:spcPct val="120000"/>
              </a:lnSpc>
              <a:spcBef>
                <a:spcPts val="0"/>
              </a:spcBef>
              <a:buNone/>
            </a:pPr>
            <a:r>
              <a:rPr lang="en-CA" sz="1100" dirty="0"/>
              <a:t>-Have you fixed bottlenecks and unloaded bottleneck providers? </a:t>
            </a:r>
            <a:endParaRPr lang="en-CA" sz="1100" b="0" dirty="0">
              <a:effectLst/>
            </a:endParaRPr>
          </a:p>
          <a:p>
            <a:pPr marL="0" indent="0">
              <a:lnSpc>
                <a:spcPct val="120000"/>
              </a:lnSpc>
              <a:spcBef>
                <a:spcPts val="0"/>
              </a:spcBef>
              <a:buNone/>
            </a:pPr>
            <a:r>
              <a:rPr lang="en-CA" sz="1100" dirty="0"/>
              <a:t>-Are you triaging and reverse triaging to assure ethical allocation? </a:t>
            </a:r>
            <a:endParaRPr lang="en-CA" sz="1100" b="0" dirty="0">
              <a:effectLst/>
            </a:endParaRPr>
          </a:p>
          <a:p>
            <a:pPr marL="0" indent="0">
              <a:lnSpc>
                <a:spcPct val="120000"/>
              </a:lnSpc>
              <a:spcBef>
                <a:spcPts val="0"/>
              </a:spcBef>
              <a:buNone/>
            </a:pPr>
            <a:r>
              <a:rPr lang="en-CA" sz="1100" dirty="0"/>
              <a:t>-Do you have goals/targets for flow and access? </a:t>
            </a:r>
            <a:endParaRPr lang="en-CA" sz="1100" b="0" dirty="0">
              <a:effectLst/>
            </a:endParaRPr>
          </a:p>
          <a:p>
            <a:pPr marL="0" indent="0">
              <a:buNone/>
            </a:pPr>
            <a:r>
              <a:rPr lang="en-CA" sz="1100" dirty="0"/>
              <a:t>Very few programs have exploited all available improvement opportunities, and substantial optimization is possible. </a:t>
            </a:r>
            <a:r>
              <a:rPr lang="en-CA" sz="1100" i="1" dirty="0"/>
              <a:t>No Patient Left Behind</a:t>
            </a:r>
            <a:r>
              <a:rPr lang="en-CA" sz="1100" dirty="0"/>
              <a:t> can make a difference by promoting and supporting operational innovation, by developing effective leaders, and by driving policy change that leads to a more accountable system (i.e. accountability frameworks and strategies). </a:t>
            </a:r>
            <a:endParaRPr lang="en-CA" sz="1100" b="0" dirty="0">
              <a:effectLst/>
            </a:endParaRPr>
          </a:p>
          <a:p>
            <a:pPr marL="0" indent="0">
              <a:buNone/>
            </a:pPr>
            <a:br>
              <a:rPr lang="en-CA" sz="1100" dirty="0"/>
            </a:br>
            <a:endParaRPr lang="en-CA" sz="1100" dirty="0"/>
          </a:p>
        </p:txBody>
      </p:sp>
    </p:spTree>
    <p:extLst>
      <p:ext uri="{BB962C8B-B14F-4D97-AF65-F5344CB8AC3E}">
        <p14:creationId xmlns:p14="http://schemas.microsoft.com/office/powerpoint/2010/main" val="114774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242DB-FB49-7795-DD46-1F421C49E15D}"/>
              </a:ext>
            </a:extLst>
          </p:cNvPr>
          <p:cNvSpPr>
            <a:spLocks noGrp="1"/>
          </p:cNvSpPr>
          <p:nvPr>
            <p:ph type="title"/>
          </p:nvPr>
        </p:nvSpPr>
        <p:spPr>
          <a:xfrm>
            <a:off x="838200" y="365125"/>
            <a:ext cx="10515600" cy="832147"/>
          </a:xfrm>
        </p:spPr>
        <p:txBody>
          <a:bodyPr/>
          <a:lstStyle/>
          <a:p>
            <a:pPr algn="ctr"/>
            <a:r>
              <a:rPr lang="en-US" b="1" dirty="0"/>
              <a:t>Reducing Care Delays in Your Hospital</a:t>
            </a:r>
            <a:endParaRPr lang="en-CA" b="1" dirty="0"/>
          </a:p>
        </p:txBody>
      </p:sp>
      <p:sp>
        <p:nvSpPr>
          <p:cNvPr id="3" name="Content Placeholder 2">
            <a:extLst>
              <a:ext uri="{FF2B5EF4-FFF2-40B4-BE49-F238E27FC236}">
                <a16:creationId xmlns:a16="http://schemas.microsoft.com/office/drawing/2014/main" id="{149447EA-91B3-A5B6-4311-5D445D7C93FD}"/>
              </a:ext>
            </a:extLst>
          </p:cNvPr>
          <p:cNvSpPr>
            <a:spLocks noGrp="1"/>
          </p:cNvSpPr>
          <p:nvPr>
            <p:ph idx="1"/>
          </p:nvPr>
        </p:nvSpPr>
        <p:spPr>
          <a:xfrm>
            <a:off x="838200" y="1401203"/>
            <a:ext cx="10515600" cy="4775760"/>
          </a:xfrm>
        </p:spPr>
        <p:txBody>
          <a:bodyPr/>
          <a:lstStyle/>
          <a:p>
            <a:r>
              <a:rPr lang="en-US" dirty="0"/>
              <a:t>ED Inflow Recommendations</a:t>
            </a:r>
          </a:p>
          <a:p>
            <a:r>
              <a:rPr lang="en-US" dirty="0"/>
              <a:t>ED Throughput Recommendations</a:t>
            </a:r>
          </a:p>
          <a:p>
            <a:r>
              <a:rPr lang="en-US" dirty="0"/>
              <a:t>ED Outflow Recommendations</a:t>
            </a:r>
          </a:p>
          <a:p>
            <a:r>
              <a:rPr lang="en-US" dirty="0"/>
              <a:t>ALC Recommendations</a:t>
            </a:r>
            <a:endParaRPr lang="en-CA" dirty="0"/>
          </a:p>
          <a:p>
            <a:endParaRPr lang="en-CA" dirty="0"/>
          </a:p>
          <a:p>
            <a:endParaRPr lang="en-CA" dirty="0"/>
          </a:p>
        </p:txBody>
      </p:sp>
    </p:spTree>
    <p:extLst>
      <p:ext uri="{BB962C8B-B14F-4D97-AF65-F5344CB8AC3E}">
        <p14:creationId xmlns:p14="http://schemas.microsoft.com/office/powerpoint/2010/main" val="34300072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16801</TotalTime>
  <Words>2746</Words>
  <Application>Microsoft Office PowerPoint</Application>
  <PresentationFormat>Widescreen</PresentationFormat>
  <Paragraphs>123</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Our Mission</vt:lpstr>
      <vt:lpstr>Why do we need “No Patient Left Behind?”</vt:lpstr>
      <vt:lpstr>Reducing Care Delays in Your Hospital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Grant Innes</dc:creator>
  <cp:lastModifiedBy>Grant Innes</cp:lastModifiedBy>
  <cp:revision>22</cp:revision>
  <dcterms:created xsi:type="dcterms:W3CDTF">2026-07-15T22:36:30Z</dcterms:created>
  <dcterms:modified xsi:type="dcterms:W3CDTF">2026-07-28T14:07:45Z</dcterms:modified>
</cp:coreProperties>
</file>